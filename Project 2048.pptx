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29" roundtripDataSignature="AMtx7mgnVB1/lhYDyvXIbzSpKfGIkR+Q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82" name="Google Shape;8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98" name="Google Shape;9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04" name="Google Shape;10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10" name="Google Shape;11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16" name="Google Shape;11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122" name="Google Shape;12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047c10114a_4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047c10114a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29b82639a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29b82639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f9b28bbcf3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f9b28bbcf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29b04abe6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29b04abe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f9b28bbcf3_2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f9b28bbcf3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237eaeb132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237eaeb13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f9b28bbcf3_2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f9b28bbcf3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21" name="Google Shape;22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
        <p:nvSpPr>
          <p:cNvPr id="226" name="Google Shape;22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 name="Google Shape;1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0" name="Google Shape;2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7"/>
          <p:cNvSpPr/>
          <p:nvPr>
            <p:ph idx="2" type="pic"/>
          </p:nvPr>
        </p:nvSpPr>
        <p:spPr>
          <a:xfrm>
            <a:off x="1792288" y="612775"/>
            <a:ext cx="5486400" cy="4114800"/>
          </a:xfrm>
          <a:prstGeom prst="rect">
            <a:avLst/>
          </a:prstGeom>
          <a:noFill/>
          <a:ln>
            <a:noFill/>
          </a:ln>
        </p:spPr>
      </p:sp>
      <p:sp>
        <p:nvSpPr>
          <p:cNvPr id="64" name="Google Shape;64;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8"/>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9"/>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jpg"/><Relationship Id="rId4" Type="http://schemas.openxmlformats.org/officeDocument/2006/relationships/image" Target="../media/image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title"/>
          </p:nvPr>
        </p:nvSpPr>
        <p:spPr>
          <a:xfrm>
            <a:off x="450273" y="0"/>
            <a:ext cx="8229600" cy="1904854"/>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000"/>
              <a:buFont typeface="Times New Roman"/>
              <a:buNone/>
            </a:pPr>
            <a:r>
              <a:rPr lang="en-US" sz="2000">
                <a:latin typeface="Times New Roman"/>
                <a:ea typeface="Times New Roman"/>
                <a:cs typeface="Times New Roman"/>
                <a:sym typeface="Times New Roman"/>
              </a:rPr>
              <a:t>Project Presentation </a:t>
            </a:r>
            <a:r>
              <a:rPr lang="en-US" sz="2000">
                <a:latin typeface="Times New Roman"/>
                <a:ea typeface="Times New Roman"/>
                <a:cs typeface="Times New Roman"/>
                <a:sym typeface="Times New Roman"/>
              </a:rPr>
              <a:t>on</a:t>
            </a:r>
            <a:br>
              <a:rPr b="1" lang="en-US" sz="3200">
                <a:latin typeface="Times New Roman"/>
                <a:ea typeface="Times New Roman"/>
                <a:cs typeface="Times New Roman"/>
                <a:sym typeface="Times New Roman"/>
              </a:rPr>
            </a:br>
            <a:r>
              <a:rPr b="1" lang="en-US" sz="2800">
                <a:latin typeface="Times New Roman"/>
                <a:ea typeface="Times New Roman"/>
                <a:cs typeface="Times New Roman"/>
                <a:sym typeface="Times New Roman"/>
              </a:rPr>
              <a:t>Playing 2048 Game using Deep Neural Networks</a:t>
            </a:r>
            <a:endParaRPr b="1" sz="2800">
              <a:latin typeface="Times New Roman"/>
              <a:ea typeface="Times New Roman"/>
              <a:cs typeface="Times New Roman"/>
              <a:sym typeface="Times New Roman"/>
            </a:endParaRPr>
          </a:p>
        </p:txBody>
      </p:sp>
      <p:sp>
        <p:nvSpPr>
          <p:cNvPr id="85" name="Google Shape;85;p1"/>
          <p:cNvSpPr txBox="1"/>
          <p:nvPr>
            <p:ph idx="1" type="body"/>
          </p:nvPr>
        </p:nvSpPr>
        <p:spPr>
          <a:xfrm>
            <a:off x="304800" y="5029200"/>
            <a:ext cx="4343400" cy="1524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000"/>
              <a:buNone/>
            </a:pPr>
            <a:r>
              <a:t/>
            </a:r>
            <a:endParaRPr b="1" sz="2000">
              <a:solidFill>
                <a:srgbClr val="0070C0"/>
              </a:solidFill>
              <a:latin typeface="Times New Roman"/>
              <a:ea typeface="Times New Roman"/>
              <a:cs typeface="Times New Roman"/>
              <a:sym typeface="Times New Roman"/>
            </a:endParaRPr>
          </a:p>
          <a:p>
            <a:pPr indent="0" lvl="0" marL="0" rtl="0" algn="l">
              <a:lnSpc>
                <a:spcPct val="100000"/>
              </a:lnSpc>
              <a:spcBef>
                <a:spcPts val="400"/>
              </a:spcBef>
              <a:spcAft>
                <a:spcPts val="0"/>
              </a:spcAft>
              <a:buClr>
                <a:srgbClr val="0070C0"/>
              </a:buClr>
              <a:buSzPts val="3200"/>
              <a:buNone/>
            </a:pPr>
            <a:r>
              <a:t/>
            </a:r>
            <a:endParaRPr/>
          </a:p>
        </p:txBody>
      </p:sp>
      <p:sp>
        <p:nvSpPr>
          <p:cNvPr id="86" name="Google Shape;86;p1"/>
          <p:cNvSpPr txBox="1"/>
          <p:nvPr/>
        </p:nvSpPr>
        <p:spPr>
          <a:xfrm>
            <a:off x="464125" y="2050675"/>
            <a:ext cx="7682400" cy="3478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Times New Roman"/>
                <a:ea typeface="Times New Roman"/>
                <a:cs typeface="Times New Roman"/>
                <a:sym typeface="Times New Roman"/>
              </a:rPr>
              <a:t>		       P.Sreelekha Reddy     	19121A05H9</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Times New Roman"/>
                <a:ea typeface="Times New Roman"/>
                <a:cs typeface="Times New Roman"/>
                <a:sym typeface="Times New Roman"/>
              </a:rPr>
              <a:t>		       R.B.Moulya                 	19121A05J6</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Times New Roman"/>
                <a:ea typeface="Times New Roman"/>
                <a:cs typeface="Times New Roman"/>
                <a:sym typeface="Times New Roman"/>
              </a:rPr>
              <a:t>		       R.Namratha                	19121A05J7</a:t>
            </a:r>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Times New Roman"/>
                <a:ea typeface="Times New Roman"/>
                <a:cs typeface="Times New Roman"/>
                <a:sym typeface="Times New Roman"/>
              </a:rPr>
              <a:t>		       R.Pranathi    	        	19121A05K2</a:t>
            </a:r>
            <a:endParaRPr b="1" i="0" sz="20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Times New Roman"/>
                <a:ea typeface="Times New Roman"/>
                <a:cs typeface="Times New Roman"/>
                <a:sym typeface="Times New Roman"/>
              </a:rPr>
              <a:t>   </a:t>
            </a:r>
            <a:endParaRPr b="1" i="0" sz="2000" u="none" cap="none" strike="noStrike">
              <a:solidFill>
                <a:srgbClr val="C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00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pic>
        <p:nvPicPr>
          <p:cNvPr descr="clge" id="87" name="Google Shape;87;p1"/>
          <p:cNvPicPr preferRelativeResize="0"/>
          <p:nvPr/>
        </p:nvPicPr>
        <p:blipFill rotWithShape="1">
          <a:blip r:embed="rId3">
            <a:alphaModFix/>
          </a:blip>
          <a:srcRect b="0" l="0" r="0" t="0"/>
          <a:stretch/>
        </p:blipFill>
        <p:spPr>
          <a:xfrm>
            <a:off x="3429000" y="3657600"/>
            <a:ext cx="3276601" cy="1143000"/>
          </a:xfrm>
          <a:prstGeom prst="rect">
            <a:avLst/>
          </a:prstGeom>
          <a:noFill/>
          <a:ln>
            <a:noFill/>
          </a:ln>
        </p:spPr>
      </p:pic>
      <p:sp>
        <p:nvSpPr>
          <p:cNvPr id="88" name="Google Shape;88;p1"/>
          <p:cNvSpPr/>
          <p:nvPr/>
        </p:nvSpPr>
        <p:spPr>
          <a:xfrm>
            <a:off x="5181600" y="5105400"/>
            <a:ext cx="3726872"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70C0"/>
                </a:solidFill>
                <a:latin typeface="Times New Roman"/>
                <a:ea typeface="Times New Roman"/>
                <a:cs typeface="Times New Roman"/>
                <a:sym typeface="Times New Roman"/>
              </a:rPr>
              <a:t>Guide &amp; HOD: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Times New Roman"/>
                <a:ea typeface="Times New Roman"/>
                <a:cs typeface="Times New Roman"/>
                <a:sym typeface="Times New Roman"/>
              </a:rPr>
              <a:t>Dr. B. Narendra Kumar Rao,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Times New Roman"/>
                <a:ea typeface="Times New Roman"/>
                <a:cs typeface="Times New Roman"/>
                <a:sym typeface="Times New Roman"/>
              </a:rPr>
              <a:t>Professor &amp; Head,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C00000"/>
                </a:solidFill>
                <a:latin typeface="Times New Roman"/>
                <a:ea typeface="Times New Roman"/>
                <a:cs typeface="Times New Roman"/>
                <a:sym typeface="Times New Roman"/>
              </a:rPr>
              <a:t>Dept. of CSE</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2514600" y="4648200"/>
            <a:ext cx="426720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B050"/>
                </a:solidFill>
                <a:latin typeface="Times New Roman"/>
                <a:ea typeface="Times New Roman"/>
                <a:cs typeface="Times New Roman"/>
                <a:sym typeface="Times New Roman"/>
              </a:rPr>
              <a:t>Computer Science and Engineering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457200" y="268951"/>
            <a:ext cx="8229600" cy="7563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0000"/>
              </a:buClr>
              <a:buSzPts val="2800"/>
              <a:buFont typeface="Times New Roman"/>
              <a:buNone/>
            </a:pPr>
            <a:r>
              <a:rPr b="1" lang="en-US" sz="2800">
                <a:solidFill>
                  <a:srgbClr val="FF0000"/>
                </a:solidFill>
                <a:latin typeface="Times New Roman"/>
                <a:ea typeface="Times New Roman"/>
                <a:cs typeface="Times New Roman"/>
                <a:sym typeface="Times New Roman"/>
              </a:rPr>
              <a:t>CONTENTS</a:t>
            </a:r>
            <a:endParaRPr/>
          </a:p>
        </p:txBody>
      </p:sp>
      <p:sp>
        <p:nvSpPr>
          <p:cNvPr id="95" name="Google Shape;95;p2"/>
          <p:cNvSpPr txBox="1"/>
          <p:nvPr>
            <p:ph idx="1" type="body"/>
          </p:nvPr>
        </p:nvSpPr>
        <p:spPr>
          <a:xfrm>
            <a:off x="457200" y="369800"/>
            <a:ext cx="8229600" cy="625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50"/>
              </a:spcBef>
              <a:spcAft>
                <a:spcPts val="0"/>
              </a:spcAft>
              <a:buSzPts val="1800"/>
              <a:buNone/>
            </a:pPr>
            <a:r>
              <a:t/>
            </a:r>
            <a:endParaRPr/>
          </a:p>
          <a:p>
            <a:pPr indent="-342900" lvl="0" marL="342900" rtl="0" algn="l">
              <a:lnSpc>
                <a:spcPct val="100000"/>
              </a:lnSpc>
              <a:spcBef>
                <a:spcPts val="450"/>
              </a:spcBef>
              <a:spcAft>
                <a:spcPts val="0"/>
              </a:spcAft>
              <a:buClr>
                <a:schemeClr val="dk1"/>
              </a:buClr>
              <a:buSzPts val="2250"/>
              <a:buFont typeface="Noto Sans Symbols"/>
              <a:buChar char="⮚"/>
            </a:pPr>
            <a:r>
              <a:rPr lang="en-US" sz="2250">
                <a:latin typeface="Times New Roman"/>
                <a:ea typeface="Times New Roman"/>
                <a:cs typeface="Times New Roman"/>
                <a:sym typeface="Times New Roman"/>
              </a:rPr>
              <a:t>Abstract</a:t>
            </a:r>
            <a:endParaRPr/>
          </a:p>
          <a:p>
            <a:pPr indent="-342900" lvl="0" marL="342900" rtl="0" algn="l">
              <a:lnSpc>
                <a:spcPct val="100000"/>
              </a:lnSpc>
              <a:spcBef>
                <a:spcPts val="450"/>
              </a:spcBef>
              <a:spcAft>
                <a:spcPts val="0"/>
              </a:spcAft>
              <a:buClr>
                <a:schemeClr val="dk1"/>
              </a:buClr>
              <a:buSzPts val="2250"/>
              <a:buFont typeface="Noto Sans Symbols"/>
              <a:buChar char="⮚"/>
            </a:pPr>
            <a:r>
              <a:rPr lang="en-US" sz="2250">
                <a:latin typeface="Times New Roman"/>
                <a:ea typeface="Times New Roman"/>
                <a:cs typeface="Times New Roman"/>
                <a:sym typeface="Times New Roman"/>
              </a:rPr>
              <a:t>Introduction</a:t>
            </a:r>
            <a:endParaRPr sz="2250">
              <a:latin typeface="Times New Roman"/>
              <a:ea typeface="Times New Roman"/>
              <a:cs typeface="Times New Roman"/>
              <a:sym typeface="Times New Roman"/>
            </a:endParaRPr>
          </a:p>
          <a:p>
            <a:pPr indent="-342900" lvl="0" marL="342900" rtl="0" algn="l">
              <a:lnSpc>
                <a:spcPct val="100000"/>
              </a:lnSpc>
              <a:spcBef>
                <a:spcPts val="450"/>
              </a:spcBef>
              <a:spcAft>
                <a:spcPts val="0"/>
              </a:spcAft>
              <a:buSzPts val="2250"/>
              <a:buFont typeface="Times New Roman"/>
              <a:buChar char="⮚"/>
            </a:pPr>
            <a:r>
              <a:rPr lang="en-US" sz="2250">
                <a:latin typeface="Times New Roman"/>
                <a:ea typeface="Times New Roman"/>
                <a:cs typeface="Times New Roman"/>
                <a:sym typeface="Times New Roman"/>
              </a:rPr>
              <a:t>Problem Statement</a:t>
            </a:r>
            <a:endParaRPr sz="2250">
              <a:latin typeface="Times New Roman"/>
              <a:ea typeface="Times New Roman"/>
              <a:cs typeface="Times New Roman"/>
              <a:sym typeface="Times New Roman"/>
            </a:endParaRPr>
          </a:p>
          <a:p>
            <a:pPr indent="-342900" lvl="0" marL="342900" rtl="0" algn="l">
              <a:lnSpc>
                <a:spcPct val="100000"/>
              </a:lnSpc>
              <a:spcBef>
                <a:spcPts val="450"/>
              </a:spcBef>
              <a:spcAft>
                <a:spcPts val="0"/>
              </a:spcAft>
              <a:buSzPts val="2250"/>
              <a:buFont typeface="Times New Roman"/>
              <a:buChar char="⮚"/>
            </a:pPr>
            <a:r>
              <a:rPr lang="en-US" sz="2250">
                <a:latin typeface="Times New Roman"/>
                <a:ea typeface="Times New Roman"/>
                <a:cs typeface="Times New Roman"/>
                <a:sym typeface="Times New Roman"/>
              </a:rPr>
              <a:t>Objectives</a:t>
            </a:r>
            <a:endParaRPr sz="2250">
              <a:latin typeface="Times New Roman"/>
              <a:ea typeface="Times New Roman"/>
              <a:cs typeface="Times New Roman"/>
              <a:sym typeface="Times New Roman"/>
            </a:endParaRPr>
          </a:p>
          <a:p>
            <a:pPr indent="-342900" lvl="0" marL="342900" rtl="0" algn="l">
              <a:lnSpc>
                <a:spcPct val="100000"/>
              </a:lnSpc>
              <a:spcBef>
                <a:spcPts val="450"/>
              </a:spcBef>
              <a:spcAft>
                <a:spcPts val="0"/>
              </a:spcAft>
              <a:buClr>
                <a:schemeClr val="dk1"/>
              </a:buClr>
              <a:buSzPts val="2250"/>
              <a:buFont typeface="Noto Sans Symbols"/>
              <a:buChar char="⮚"/>
            </a:pPr>
            <a:r>
              <a:rPr lang="en-US" sz="2250">
                <a:latin typeface="Times New Roman"/>
                <a:ea typeface="Times New Roman"/>
                <a:cs typeface="Times New Roman"/>
                <a:sym typeface="Times New Roman"/>
              </a:rPr>
              <a:t>Software and Hardware Requirements </a:t>
            </a:r>
            <a:endParaRPr sz="2250">
              <a:latin typeface="Times New Roman"/>
              <a:ea typeface="Times New Roman"/>
              <a:cs typeface="Times New Roman"/>
              <a:sym typeface="Times New Roman"/>
            </a:endParaRPr>
          </a:p>
          <a:p>
            <a:pPr indent="-342900" lvl="0" marL="342900" rtl="0" algn="l">
              <a:lnSpc>
                <a:spcPct val="100000"/>
              </a:lnSpc>
              <a:spcBef>
                <a:spcPts val="450"/>
              </a:spcBef>
              <a:spcAft>
                <a:spcPts val="0"/>
              </a:spcAft>
              <a:buSzPts val="2250"/>
              <a:buFont typeface="Times New Roman"/>
              <a:buChar char="⮚"/>
            </a:pPr>
            <a:r>
              <a:rPr lang="en-US" sz="2250">
                <a:latin typeface="Times New Roman"/>
                <a:ea typeface="Times New Roman"/>
                <a:cs typeface="Times New Roman"/>
                <a:sym typeface="Times New Roman"/>
              </a:rPr>
              <a:t>Existing system</a:t>
            </a:r>
            <a:endParaRPr sz="2250">
              <a:latin typeface="Times New Roman"/>
              <a:ea typeface="Times New Roman"/>
              <a:cs typeface="Times New Roman"/>
              <a:sym typeface="Times New Roman"/>
            </a:endParaRPr>
          </a:p>
          <a:p>
            <a:pPr indent="-342900" lvl="0" marL="342900" rtl="0" algn="l">
              <a:lnSpc>
                <a:spcPct val="100000"/>
              </a:lnSpc>
              <a:spcBef>
                <a:spcPts val="450"/>
              </a:spcBef>
              <a:spcAft>
                <a:spcPts val="0"/>
              </a:spcAft>
              <a:buSzPts val="2250"/>
              <a:buFont typeface="Times New Roman"/>
              <a:buChar char="⮚"/>
            </a:pPr>
            <a:r>
              <a:rPr lang="en-US" sz="2250">
                <a:latin typeface="Times New Roman"/>
                <a:ea typeface="Times New Roman"/>
                <a:cs typeface="Times New Roman"/>
                <a:sym typeface="Times New Roman"/>
              </a:rPr>
              <a:t>Software Requirement specification</a:t>
            </a:r>
            <a:endParaRPr sz="2250">
              <a:latin typeface="Times New Roman"/>
              <a:ea typeface="Times New Roman"/>
              <a:cs typeface="Times New Roman"/>
              <a:sym typeface="Times New Roman"/>
            </a:endParaRPr>
          </a:p>
          <a:p>
            <a:pPr indent="-342900" lvl="0" marL="342900" rtl="0" algn="l">
              <a:lnSpc>
                <a:spcPct val="100000"/>
              </a:lnSpc>
              <a:spcBef>
                <a:spcPts val="450"/>
              </a:spcBef>
              <a:spcAft>
                <a:spcPts val="0"/>
              </a:spcAft>
              <a:buSzPts val="2250"/>
              <a:buFont typeface="Times New Roman"/>
              <a:buChar char="⮚"/>
            </a:pPr>
            <a:r>
              <a:rPr lang="en-US" sz="2250">
                <a:latin typeface="Times New Roman"/>
                <a:ea typeface="Times New Roman"/>
                <a:cs typeface="Times New Roman"/>
                <a:sym typeface="Times New Roman"/>
              </a:rPr>
              <a:t>Proposed system</a:t>
            </a:r>
            <a:endParaRPr sz="2250">
              <a:latin typeface="Times New Roman"/>
              <a:ea typeface="Times New Roman"/>
              <a:cs typeface="Times New Roman"/>
              <a:sym typeface="Times New Roman"/>
            </a:endParaRPr>
          </a:p>
          <a:p>
            <a:pPr indent="-342900" lvl="0" marL="342900" rtl="0" algn="l">
              <a:lnSpc>
                <a:spcPct val="100000"/>
              </a:lnSpc>
              <a:spcBef>
                <a:spcPts val="450"/>
              </a:spcBef>
              <a:spcAft>
                <a:spcPts val="0"/>
              </a:spcAft>
              <a:buSzPts val="2250"/>
              <a:buFont typeface="Times New Roman"/>
              <a:buChar char="⮚"/>
            </a:pPr>
            <a:r>
              <a:rPr lang="en-US" sz="2250">
                <a:latin typeface="Times New Roman"/>
                <a:ea typeface="Times New Roman"/>
                <a:cs typeface="Times New Roman"/>
                <a:sym typeface="Times New Roman"/>
              </a:rPr>
              <a:t>Algorithm Used</a:t>
            </a:r>
            <a:endParaRPr sz="2250">
              <a:latin typeface="Times New Roman"/>
              <a:ea typeface="Times New Roman"/>
              <a:cs typeface="Times New Roman"/>
              <a:sym typeface="Times New Roman"/>
            </a:endParaRPr>
          </a:p>
          <a:p>
            <a:pPr indent="-342900" lvl="0" marL="342900" rtl="0" algn="l">
              <a:lnSpc>
                <a:spcPct val="100000"/>
              </a:lnSpc>
              <a:spcBef>
                <a:spcPts val="450"/>
              </a:spcBef>
              <a:spcAft>
                <a:spcPts val="0"/>
              </a:spcAft>
              <a:buSzPts val="2250"/>
              <a:buFont typeface="Times New Roman"/>
              <a:buChar char="⮚"/>
            </a:pPr>
            <a:r>
              <a:rPr lang="en-US" sz="2250">
                <a:latin typeface="Times New Roman"/>
                <a:ea typeface="Times New Roman"/>
                <a:cs typeface="Times New Roman"/>
                <a:sym typeface="Times New Roman"/>
              </a:rPr>
              <a:t>Design</a:t>
            </a:r>
            <a:endParaRPr sz="2250">
              <a:latin typeface="Times New Roman"/>
              <a:ea typeface="Times New Roman"/>
              <a:cs typeface="Times New Roman"/>
              <a:sym typeface="Times New Roman"/>
            </a:endParaRPr>
          </a:p>
          <a:p>
            <a:pPr indent="-342900" lvl="0" marL="342900" rtl="0" algn="l">
              <a:lnSpc>
                <a:spcPct val="100000"/>
              </a:lnSpc>
              <a:spcBef>
                <a:spcPts val="450"/>
              </a:spcBef>
              <a:spcAft>
                <a:spcPts val="0"/>
              </a:spcAft>
              <a:buSzPts val="2250"/>
              <a:buFont typeface="Times New Roman"/>
              <a:buChar char="⮚"/>
            </a:pPr>
            <a:r>
              <a:rPr lang="en-US" sz="2250">
                <a:latin typeface="Times New Roman"/>
                <a:ea typeface="Times New Roman"/>
                <a:cs typeface="Times New Roman"/>
                <a:sym typeface="Times New Roman"/>
              </a:rPr>
              <a:t>Implementation</a:t>
            </a:r>
            <a:endParaRPr sz="2250">
              <a:latin typeface="Times New Roman"/>
              <a:ea typeface="Times New Roman"/>
              <a:cs typeface="Times New Roman"/>
              <a:sym typeface="Times New Roman"/>
            </a:endParaRPr>
          </a:p>
          <a:p>
            <a:pPr indent="-342900" lvl="0" marL="342900" rtl="0" algn="l">
              <a:lnSpc>
                <a:spcPct val="100000"/>
              </a:lnSpc>
              <a:spcBef>
                <a:spcPts val="450"/>
              </a:spcBef>
              <a:spcAft>
                <a:spcPts val="0"/>
              </a:spcAft>
              <a:buSzPts val="2250"/>
              <a:buFont typeface="Times New Roman"/>
              <a:buChar char="⮚"/>
            </a:pPr>
            <a:r>
              <a:rPr lang="en-US" sz="2250">
                <a:latin typeface="Times New Roman"/>
                <a:ea typeface="Times New Roman"/>
                <a:cs typeface="Times New Roman"/>
                <a:sym typeface="Times New Roman"/>
              </a:rPr>
              <a:t>Result</a:t>
            </a:r>
            <a:endParaRPr sz="2250">
              <a:latin typeface="Times New Roman"/>
              <a:ea typeface="Times New Roman"/>
              <a:cs typeface="Times New Roman"/>
              <a:sym typeface="Times New Roman"/>
            </a:endParaRPr>
          </a:p>
          <a:p>
            <a:pPr indent="-342900" lvl="0" marL="342900" rtl="0" algn="l">
              <a:lnSpc>
                <a:spcPct val="100000"/>
              </a:lnSpc>
              <a:spcBef>
                <a:spcPts val="450"/>
              </a:spcBef>
              <a:spcAft>
                <a:spcPts val="0"/>
              </a:spcAft>
              <a:buSzPts val="2250"/>
              <a:buFont typeface="Times New Roman"/>
              <a:buChar char="⮚"/>
            </a:pPr>
            <a:r>
              <a:rPr lang="en-US" sz="2250">
                <a:latin typeface="Times New Roman"/>
                <a:ea typeface="Times New Roman"/>
                <a:cs typeface="Times New Roman"/>
                <a:sym typeface="Times New Roman"/>
              </a:rPr>
              <a:t>Conclusion</a:t>
            </a:r>
            <a:endParaRPr sz="2250">
              <a:latin typeface="Times New Roman"/>
              <a:ea typeface="Times New Roman"/>
              <a:cs typeface="Times New Roman"/>
              <a:sym typeface="Times New Roman"/>
            </a:endParaRPr>
          </a:p>
          <a:p>
            <a:pPr indent="-342900" lvl="0" marL="342900" rtl="0" algn="l">
              <a:lnSpc>
                <a:spcPct val="100000"/>
              </a:lnSpc>
              <a:spcBef>
                <a:spcPts val="450"/>
              </a:spcBef>
              <a:spcAft>
                <a:spcPts val="0"/>
              </a:spcAft>
              <a:buSzPts val="2250"/>
              <a:buFont typeface="Times New Roman"/>
              <a:buChar char="⮚"/>
            </a:pPr>
            <a:r>
              <a:rPr lang="en-US" sz="2250">
                <a:latin typeface="Times New Roman"/>
                <a:ea typeface="Times New Roman"/>
                <a:cs typeface="Times New Roman"/>
                <a:sym typeface="Times New Roman"/>
              </a:rPr>
              <a:t>References</a:t>
            </a:r>
            <a:endParaRPr sz="2250">
              <a:latin typeface="Times New Roman"/>
              <a:ea typeface="Times New Roman"/>
              <a:cs typeface="Times New Roman"/>
              <a:sym typeface="Times New Roman"/>
            </a:endParaRPr>
          </a:p>
          <a:p>
            <a:pPr indent="0" lvl="0" marL="0" rtl="0" algn="l">
              <a:lnSpc>
                <a:spcPct val="100000"/>
              </a:lnSpc>
              <a:spcBef>
                <a:spcPts val="450"/>
              </a:spcBef>
              <a:spcAft>
                <a:spcPts val="0"/>
              </a:spcAft>
              <a:buSzPts val="1800"/>
              <a:buNone/>
            </a:pPr>
            <a:r>
              <a:t/>
            </a:r>
            <a:endParaRPr/>
          </a:p>
          <a:p>
            <a:pPr indent="-342900" lvl="0" marL="342900" rtl="0" algn="l">
              <a:lnSpc>
                <a:spcPct val="100000"/>
              </a:lnSpc>
              <a:spcBef>
                <a:spcPts val="450"/>
              </a:spcBef>
              <a:spcAft>
                <a:spcPts val="0"/>
              </a:spcAft>
              <a:buClr>
                <a:schemeClr val="dk1"/>
              </a:buClr>
              <a:buSzPts val="2250"/>
              <a:buNone/>
            </a:pPr>
            <a:r>
              <a:t/>
            </a:r>
            <a:endParaRPr sz="2250">
              <a:latin typeface="Times New Roman"/>
              <a:ea typeface="Times New Roman"/>
              <a:cs typeface="Times New Roman"/>
              <a:sym typeface="Times New Roman"/>
            </a:endParaRPr>
          </a:p>
          <a:p>
            <a:pPr indent="-200025" lvl="0" marL="342900" rtl="0" algn="l">
              <a:lnSpc>
                <a:spcPct val="100000"/>
              </a:lnSpc>
              <a:spcBef>
                <a:spcPts val="450"/>
              </a:spcBef>
              <a:spcAft>
                <a:spcPts val="0"/>
              </a:spcAft>
              <a:buClr>
                <a:schemeClr val="dk1"/>
              </a:buClr>
              <a:buSzPts val="2250"/>
              <a:buFont typeface="Noto Sans Symbols"/>
              <a:buNone/>
            </a:pPr>
            <a:r>
              <a:t/>
            </a:r>
            <a:endParaRPr sz="225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457200" y="274648"/>
            <a:ext cx="8229600" cy="918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3600"/>
              <a:buFont typeface="Times New Roman"/>
              <a:buNone/>
            </a:pPr>
            <a:r>
              <a:rPr b="1" lang="en-US" sz="3600">
                <a:solidFill>
                  <a:srgbClr val="FF0000"/>
                </a:solidFill>
                <a:latin typeface="Times New Roman"/>
                <a:ea typeface="Times New Roman"/>
                <a:cs typeface="Times New Roman"/>
                <a:sym typeface="Times New Roman"/>
              </a:rPr>
              <a:t>Abstract</a:t>
            </a:r>
            <a:endParaRPr b="1" sz="3600">
              <a:solidFill>
                <a:srgbClr val="FF0000"/>
              </a:solidFill>
              <a:latin typeface="Times New Roman"/>
              <a:ea typeface="Times New Roman"/>
              <a:cs typeface="Times New Roman"/>
              <a:sym typeface="Times New Roman"/>
            </a:endParaRPr>
          </a:p>
        </p:txBody>
      </p:sp>
      <p:sp>
        <p:nvSpPr>
          <p:cNvPr id="101" name="Google Shape;101;p3"/>
          <p:cNvSpPr txBox="1"/>
          <p:nvPr>
            <p:ph idx="1" type="body"/>
          </p:nvPr>
        </p:nvSpPr>
        <p:spPr>
          <a:xfrm>
            <a:off x="457200" y="1193550"/>
            <a:ext cx="8229600" cy="5311500"/>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0"/>
              </a:spcBef>
              <a:spcAft>
                <a:spcPts val="0"/>
              </a:spcAft>
              <a:buClr>
                <a:schemeClr val="dk1"/>
              </a:buClr>
              <a:buSzPts val="1100"/>
              <a:buFont typeface="Arial"/>
              <a:buNone/>
            </a:pPr>
            <a:r>
              <a:rPr lang="en-US" sz="1800">
                <a:latin typeface="Verdana"/>
                <a:ea typeface="Verdana"/>
                <a:cs typeface="Verdana"/>
                <a:sym typeface="Verdana"/>
              </a:rPr>
              <a:t>	    A stochastic puzzle game for one player is called Game 2048. This fascinating and engaging game has gained widespread acclaim and drawn researchers to create gaming software. The game 2048 has evolved into an engaging and difficult platform for assessing the efficacy of machine learning techniques because of its simplicity and</a:t>
            </a:r>
            <a:endParaRPr sz="1800">
              <a:latin typeface="Verdana"/>
              <a:ea typeface="Verdana"/>
              <a:cs typeface="Verdana"/>
              <a:sym typeface="Verdana"/>
            </a:endParaRPr>
          </a:p>
          <a:p>
            <a:pPr indent="0" lvl="0" marL="0" rtl="0" algn="just">
              <a:lnSpc>
                <a:spcPct val="115000"/>
              </a:lnSpc>
              <a:spcBef>
                <a:spcPts val="0"/>
              </a:spcBef>
              <a:spcAft>
                <a:spcPts val="0"/>
              </a:spcAft>
              <a:buClr>
                <a:schemeClr val="dk1"/>
              </a:buClr>
              <a:buSzPts val="1100"/>
              <a:buFont typeface="Arial"/>
              <a:buNone/>
            </a:pPr>
            <a:r>
              <a:rPr lang="en-US" sz="1800">
                <a:latin typeface="Verdana"/>
                <a:ea typeface="Verdana"/>
                <a:cs typeface="Verdana"/>
                <a:sym typeface="Verdana"/>
              </a:rPr>
              <a:t>complexity. Convolutional neural networks were used to create some computer players,but they performed poorly. In this project, we create a 2048 agent based on the Reinforcement Learning method and neural networks.We want to outperform other neural network based competitors in terms of results. Additionally, a cutting-edge software created using this methodology for 2048 achieves the best performance out of all learning-based algorithms.</a:t>
            </a:r>
            <a:endParaRPr sz="1800">
              <a:latin typeface="Verdana"/>
              <a:ea typeface="Verdana"/>
              <a:cs typeface="Verdana"/>
              <a:sym typeface="Verdana"/>
            </a:endParaRPr>
          </a:p>
          <a:p>
            <a:pPr indent="0" lvl="0" marL="0" rtl="0" algn="just">
              <a:lnSpc>
                <a:spcPct val="115000"/>
              </a:lnSpc>
              <a:spcBef>
                <a:spcPts val="0"/>
              </a:spcBef>
              <a:spcAft>
                <a:spcPts val="0"/>
              </a:spcAft>
              <a:buClr>
                <a:schemeClr val="dk1"/>
              </a:buClr>
              <a:buSzPts val="1100"/>
              <a:buFont typeface="Arial"/>
              <a:buNone/>
            </a:pPr>
            <a:r>
              <a:t/>
            </a:r>
            <a:endParaRPr sz="1800">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0000"/>
              </a:buClr>
              <a:buSzPts val="3600"/>
              <a:buFont typeface="Times New Roman"/>
              <a:buNone/>
            </a:pPr>
            <a:r>
              <a:rPr b="1" lang="en-US" sz="3600">
                <a:solidFill>
                  <a:srgbClr val="FF0000"/>
                </a:solidFill>
                <a:latin typeface="Times New Roman"/>
                <a:ea typeface="Times New Roman"/>
                <a:cs typeface="Times New Roman"/>
                <a:sym typeface="Times New Roman"/>
              </a:rPr>
              <a:t>Introduction</a:t>
            </a:r>
            <a:endParaRPr b="1" sz="3600">
              <a:solidFill>
                <a:srgbClr val="FF0000"/>
              </a:solidFill>
              <a:latin typeface="Times New Roman"/>
              <a:ea typeface="Times New Roman"/>
              <a:cs typeface="Times New Roman"/>
              <a:sym typeface="Times New Roman"/>
            </a:endParaRPr>
          </a:p>
        </p:txBody>
      </p:sp>
      <p:sp>
        <p:nvSpPr>
          <p:cNvPr id="107" name="Google Shape;10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457200" rtl="0" algn="just">
              <a:lnSpc>
                <a:spcPct val="115000"/>
              </a:lnSpc>
              <a:spcBef>
                <a:spcPts val="0"/>
              </a:spcBef>
              <a:spcAft>
                <a:spcPts val="0"/>
              </a:spcAft>
              <a:buSzPts val="1800"/>
              <a:buFont typeface="Verdana"/>
              <a:buChar char="•"/>
            </a:pPr>
            <a:r>
              <a:rPr lang="en-US" sz="1800">
                <a:latin typeface="Verdana"/>
                <a:ea typeface="Verdana"/>
                <a:cs typeface="Verdana"/>
                <a:sym typeface="Verdana"/>
              </a:rPr>
              <a:t>Game 2048 is played on a 4×4 grid. It is a slide-and-merge game, easy to learn but hard to master.</a:t>
            </a:r>
            <a:endParaRPr sz="1800">
              <a:latin typeface="Verdana"/>
              <a:ea typeface="Verdana"/>
              <a:cs typeface="Verdana"/>
              <a:sym typeface="Verdana"/>
            </a:endParaRPr>
          </a:p>
          <a:p>
            <a:pPr indent="-342900" lvl="0" marL="457200" rtl="0" algn="just">
              <a:lnSpc>
                <a:spcPct val="115000"/>
              </a:lnSpc>
              <a:spcBef>
                <a:spcPts val="0"/>
              </a:spcBef>
              <a:spcAft>
                <a:spcPts val="0"/>
              </a:spcAft>
              <a:buSzPts val="1800"/>
              <a:buFont typeface="Verdana"/>
              <a:buChar char="•"/>
            </a:pPr>
            <a:r>
              <a:rPr lang="en-US" sz="1800">
                <a:latin typeface="Verdana"/>
                <a:ea typeface="Verdana"/>
                <a:cs typeface="Verdana"/>
                <a:sym typeface="Verdana"/>
              </a:rPr>
              <a:t>The objective of the original Game 2048 is to reach a 2048 tile by moving and merging the tiles on the board according to the rules.</a:t>
            </a:r>
            <a:endParaRPr sz="1800">
              <a:latin typeface="Verdana"/>
              <a:ea typeface="Verdana"/>
              <a:cs typeface="Verdana"/>
              <a:sym typeface="Verdana"/>
            </a:endParaRPr>
          </a:p>
          <a:p>
            <a:pPr indent="-342900" lvl="0" marL="457200" rtl="0" algn="just">
              <a:lnSpc>
                <a:spcPct val="115000"/>
              </a:lnSpc>
              <a:spcBef>
                <a:spcPts val="0"/>
              </a:spcBef>
              <a:spcAft>
                <a:spcPts val="0"/>
              </a:spcAft>
              <a:buSzPts val="1800"/>
              <a:buFont typeface="Verdana"/>
              <a:buChar char="•"/>
            </a:pPr>
            <a:r>
              <a:rPr lang="en-US" sz="1800">
                <a:latin typeface="Verdana"/>
                <a:ea typeface="Verdana"/>
                <a:cs typeface="Verdana"/>
                <a:sym typeface="Verdana"/>
              </a:rPr>
              <a:t>In an initial state two tiles are placed randomly with numbers 2 or 4. The player selects a direction (either up, right, down, or left), and then all the tiles will move in the selected direction. When two tiles of the same number collide, they create a tile with the sum value and the player gets the sum as the score.</a:t>
            </a:r>
            <a:endParaRPr sz="1800">
              <a:latin typeface="Verdana"/>
              <a:ea typeface="Verdana"/>
              <a:cs typeface="Verdana"/>
              <a:sym typeface="Verdana"/>
            </a:endParaRPr>
          </a:p>
          <a:p>
            <a:pPr indent="-342900" lvl="0" marL="457200" rtl="0" algn="just">
              <a:lnSpc>
                <a:spcPct val="115000"/>
              </a:lnSpc>
              <a:spcBef>
                <a:spcPts val="0"/>
              </a:spcBef>
              <a:spcAft>
                <a:spcPts val="0"/>
              </a:spcAft>
              <a:buSzPts val="1800"/>
              <a:buFont typeface="Verdana"/>
              <a:buChar char="•"/>
            </a:pPr>
            <a:r>
              <a:rPr lang="en-US" sz="1800">
                <a:latin typeface="Verdana"/>
                <a:ea typeface="Verdana"/>
                <a:cs typeface="Verdana"/>
                <a:sym typeface="Verdana"/>
              </a:rPr>
              <a:t>The merges occur from the far side and newly created tiles do not merge again on the same move. And the player cannot select a direction in which no tiles move nor merge. After each move, a new tile appears randomly at an empty cell with number 2 or 4 ,when the player cannot move the tiles, the game ends.</a:t>
            </a:r>
            <a:endParaRPr sz="1800">
              <a:latin typeface="Verdana"/>
              <a:ea typeface="Verdana"/>
              <a:cs typeface="Verdana"/>
              <a:sym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0000"/>
              </a:buClr>
              <a:buSzPts val="3600"/>
              <a:buFont typeface="Times New Roman"/>
              <a:buNone/>
            </a:pPr>
            <a:r>
              <a:rPr b="1" lang="en-US" sz="3600">
                <a:solidFill>
                  <a:srgbClr val="FF0000"/>
                </a:solidFill>
                <a:latin typeface="Times New Roman"/>
                <a:ea typeface="Times New Roman"/>
                <a:cs typeface="Times New Roman"/>
                <a:sym typeface="Times New Roman"/>
              </a:rPr>
              <a:t>Problem Statement</a:t>
            </a:r>
            <a:endParaRPr/>
          </a:p>
        </p:txBody>
      </p:sp>
      <p:sp>
        <p:nvSpPr>
          <p:cNvPr id="113" name="Google Shape;113;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0"/>
              </a:spcBef>
              <a:spcAft>
                <a:spcPts val="0"/>
              </a:spcAft>
              <a:buSzPts val="1800"/>
              <a:buNone/>
            </a:pPr>
            <a:r>
              <a:rPr lang="en-US" sz="1800">
                <a:latin typeface="Verdana"/>
                <a:ea typeface="Verdana"/>
                <a:cs typeface="Verdana"/>
                <a:sym typeface="Verdana"/>
              </a:rPr>
              <a:t>	To develop an agent that is capable of playing 2048 Game efficiently. The need for developing such an agent is mainly for the purposes of research. </a:t>
            </a:r>
            <a:endParaRPr sz="1800">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0000"/>
              </a:buClr>
              <a:buSzPts val="3600"/>
              <a:buFont typeface="Times New Roman"/>
              <a:buNone/>
            </a:pPr>
            <a:r>
              <a:rPr b="1" lang="en-US" sz="3600">
                <a:solidFill>
                  <a:srgbClr val="FF0000"/>
                </a:solidFill>
                <a:latin typeface="Times New Roman"/>
                <a:ea typeface="Times New Roman"/>
                <a:cs typeface="Times New Roman"/>
                <a:sym typeface="Times New Roman"/>
              </a:rPr>
              <a:t>Objectives</a:t>
            </a:r>
            <a:endParaRPr b="1" sz="3600">
              <a:solidFill>
                <a:srgbClr val="FF0000"/>
              </a:solidFill>
              <a:latin typeface="Times New Roman"/>
              <a:ea typeface="Times New Roman"/>
              <a:cs typeface="Times New Roman"/>
              <a:sym typeface="Times New Roman"/>
            </a:endParaRPr>
          </a:p>
        </p:txBody>
      </p:sp>
      <p:sp>
        <p:nvSpPr>
          <p:cNvPr id="119" name="Google Shape;119;p6"/>
          <p:cNvSpPr txBox="1"/>
          <p:nvPr>
            <p:ph idx="1" type="body"/>
          </p:nvPr>
        </p:nvSpPr>
        <p:spPr>
          <a:xfrm>
            <a:off x="457200" y="1417650"/>
            <a:ext cx="8229600" cy="4708500"/>
          </a:xfrm>
          <a:prstGeom prst="rect">
            <a:avLst/>
          </a:prstGeom>
          <a:noFill/>
          <a:ln>
            <a:noFill/>
          </a:ln>
        </p:spPr>
        <p:txBody>
          <a:bodyPr anchorCtr="0" anchor="t" bIns="45700" lIns="91425" spcFirstLastPara="1" rIns="91425" wrap="square" tIns="45700">
            <a:normAutofit/>
          </a:bodyPr>
          <a:lstStyle/>
          <a:p>
            <a:pPr indent="-342900" lvl="0" marL="457200" rtl="0" algn="just">
              <a:lnSpc>
                <a:spcPct val="150000"/>
              </a:lnSpc>
              <a:spcBef>
                <a:spcPts val="0"/>
              </a:spcBef>
              <a:spcAft>
                <a:spcPts val="0"/>
              </a:spcAft>
              <a:buSzPts val="1800"/>
              <a:buFont typeface="Verdana"/>
              <a:buChar char="•"/>
            </a:pPr>
            <a:r>
              <a:rPr lang="en-US" sz="1800">
                <a:latin typeface="Verdana"/>
                <a:ea typeface="Verdana"/>
                <a:cs typeface="Verdana"/>
                <a:sym typeface="Verdana"/>
              </a:rPr>
              <a:t>The primary objective is to train the agent to play the game optimally, by learning from experience and adjusting it's strategy based on the rewards received for making different moves. </a:t>
            </a:r>
            <a:endParaRPr sz="1800"/>
          </a:p>
          <a:p>
            <a:pPr indent="-342900" lvl="0" marL="457200" rtl="0" algn="just">
              <a:lnSpc>
                <a:spcPct val="150000"/>
              </a:lnSpc>
              <a:spcBef>
                <a:spcPts val="0"/>
              </a:spcBef>
              <a:spcAft>
                <a:spcPts val="0"/>
              </a:spcAft>
              <a:buSzPts val="1800"/>
              <a:buFont typeface="Verdana"/>
              <a:buChar char="•"/>
            </a:pPr>
            <a:r>
              <a:rPr lang="en-US" sz="1800">
                <a:latin typeface="Verdana"/>
                <a:ea typeface="Verdana"/>
                <a:cs typeface="Verdana"/>
                <a:sym typeface="Verdana"/>
              </a:rPr>
              <a:t>The agent should improve its performance over time </a:t>
            </a:r>
            <a:endParaRPr sz="1800"/>
          </a:p>
          <a:p>
            <a:pPr indent="-342900" lvl="0" marL="457200" rtl="0" algn="just">
              <a:lnSpc>
                <a:spcPct val="150000"/>
              </a:lnSpc>
              <a:spcBef>
                <a:spcPts val="0"/>
              </a:spcBef>
              <a:spcAft>
                <a:spcPts val="0"/>
              </a:spcAft>
              <a:buSzPts val="1800"/>
              <a:buFont typeface="Verdana"/>
              <a:buChar char="•"/>
            </a:pPr>
            <a:r>
              <a:rPr lang="en-US" sz="1800">
                <a:latin typeface="Verdana"/>
                <a:ea typeface="Verdana"/>
                <a:cs typeface="Verdana"/>
                <a:sym typeface="Verdana"/>
              </a:rPr>
              <a:t>Agent should explore the game state space. </a:t>
            </a:r>
            <a:endParaRPr sz="1800"/>
          </a:p>
          <a:p>
            <a:pPr indent="-342900" lvl="0" marL="457200" rtl="0" algn="just">
              <a:lnSpc>
                <a:spcPct val="150000"/>
              </a:lnSpc>
              <a:spcBef>
                <a:spcPts val="0"/>
              </a:spcBef>
              <a:spcAft>
                <a:spcPts val="0"/>
              </a:spcAft>
              <a:buSzPts val="1800"/>
              <a:buFont typeface="Verdana"/>
              <a:buChar char="•"/>
            </a:pPr>
            <a:r>
              <a:rPr lang="en-US" sz="1800">
                <a:latin typeface="Verdana"/>
                <a:ea typeface="Verdana"/>
                <a:cs typeface="Verdana"/>
                <a:sym typeface="Verdana"/>
              </a:rPr>
              <a:t>The agent should be designed to use computational resources efficiently, so that it can be trained and run on a variety of hardware platforms. </a:t>
            </a:r>
            <a:endParaRPr sz="1800"/>
          </a:p>
          <a:p>
            <a:pPr indent="-228600" lvl="0" marL="457200" rtl="0" algn="just">
              <a:lnSpc>
                <a:spcPct val="150000"/>
              </a:lnSpc>
              <a:spcBef>
                <a:spcPts val="0"/>
              </a:spcBef>
              <a:spcAft>
                <a:spcPts val="0"/>
              </a:spcAft>
              <a:buSzPts val="1800"/>
              <a:buFont typeface="Verdana"/>
              <a:buNone/>
            </a:pPr>
            <a:r>
              <a:t/>
            </a:r>
            <a:endParaRPr sz="1800"/>
          </a:p>
          <a:p>
            <a:pPr indent="-228600" lvl="0" marL="457200" rtl="0" algn="just">
              <a:lnSpc>
                <a:spcPct val="115000"/>
              </a:lnSpc>
              <a:spcBef>
                <a:spcPts val="0"/>
              </a:spcBef>
              <a:spcAft>
                <a:spcPts val="0"/>
              </a:spcAft>
              <a:buSzPts val="1800"/>
              <a:buFont typeface="Verdana"/>
              <a:buNone/>
            </a:pPr>
            <a:r>
              <a:t/>
            </a:r>
            <a:endParaRPr sz="1800">
              <a:latin typeface="Verdana"/>
              <a:ea typeface="Verdana"/>
              <a:cs typeface="Verdana"/>
              <a:sym typeface="Verdana"/>
            </a:endParaRPr>
          </a:p>
          <a:p>
            <a:pPr indent="-228600" lvl="0" marL="457200" rtl="0" algn="just">
              <a:lnSpc>
                <a:spcPct val="115000"/>
              </a:lnSpc>
              <a:spcBef>
                <a:spcPts val="0"/>
              </a:spcBef>
              <a:spcAft>
                <a:spcPts val="0"/>
              </a:spcAft>
              <a:buSzPts val="1800"/>
              <a:buFont typeface="Verdana"/>
              <a:buNone/>
            </a:pPr>
            <a:r>
              <a:t/>
            </a:r>
            <a:endParaRPr sz="1800">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0000"/>
              </a:buClr>
              <a:buSzPts val="3600"/>
              <a:buFont typeface="Times New Roman"/>
              <a:buNone/>
            </a:pPr>
            <a:r>
              <a:rPr b="1" lang="en-US" sz="3600">
                <a:solidFill>
                  <a:srgbClr val="FF0000"/>
                </a:solidFill>
                <a:latin typeface="Times New Roman"/>
                <a:ea typeface="Times New Roman"/>
                <a:cs typeface="Times New Roman"/>
                <a:sym typeface="Times New Roman"/>
              </a:rPr>
              <a:t>Software and Hardware Requirements </a:t>
            </a:r>
            <a:endParaRPr/>
          </a:p>
        </p:txBody>
      </p:sp>
      <p:sp>
        <p:nvSpPr>
          <p:cNvPr id="125" name="Google Shape;125;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457200" rtl="0" algn="just">
              <a:lnSpc>
                <a:spcPct val="115000"/>
              </a:lnSpc>
              <a:spcBef>
                <a:spcPts val="0"/>
              </a:spcBef>
              <a:spcAft>
                <a:spcPts val="0"/>
              </a:spcAft>
              <a:buSzPts val="1800"/>
              <a:buFont typeface="Verdana"/>
              <a:buChar char="•"/>
            </a:pPr>
            <a:r>
              <a:rPr lang="en-US" sz="1800">
                <a:latin typeface="Verdana"/>
                <a:ea typeface="Verdana"/>
                <a:cs typeface="Verdana"/>
                <a:sym typeface="Verdana"/>
              </a:rPr>
              <a:t>Memory :4GB (recommended)</a:t>
            </a:r>
            <a:endParaRPr sz="1800">
              <a:latin typeface="Verdana"/>
              <a:ea typeface="Verdana"/>
              <a:cs typeface="Verdana"/>
              <a:sym typeface="Verdana"/>
            </a:endParaRPr>
          </a:p>
          <a:p>
            <a:pPr indent="-342900" lvl="0" marL="457200" rtl="0" algn="just">
              <a:lnSpc>
                <a:spcPct val="115000"/>
              </a:lnSpc>
              <a:spcBef>
                <a:spcPts val="0"/>
              </a:spcBef>
              <a:spcAft>
                <a:spcPts val="0"/>
              </a:spcAft>
              <a:buSzPts val="1800"/>
              <a:buFont typeface="Verdana"/>
              <a:buChar char="•"/>
            </a:pPr>
            <a:r>
              <a:rPr lang="en-US" sz="1800">
                <a:latin typeface="Verdana"/>
                <a:ea typeface="Verdana"/>
                <a:cs typeface="Verdana"/>
                <a:sym typeface="Verdana"/>
              </a:rPr>
              <a:t>Graphics Card :Intel Media Accelerator 500</a:t>
            </a:r>
            <a:endParaRPr sz="1800">
              <a:latin typeface="Verdana"/>
              <a:ea typeface="Verdana"/>
              <a:cs typeface="Verdana"/>
              <a:sym typeface="Verdana"/>
            </a:endParaRPr>
          </a:p>
          <a:p>
            <a:pPr indent="-342900" lvl="0" marL="457200" rtl="0" algn="just">
              <a:lnSpc>
                <a:spcPct val="115000"/>
              </a:lnSpc>
              <a:spcBef>
                <a:spcPts val="0"/>
              </a:spcBef>
              <a:spcAft>
                <a:spcPts val="0"/>
              </a:spcAft>
              <a:buSzPts val="1800"/>
              <a:buFont typeface="Verdana"/>
              <a:buChar char="•"/>
            </a:pPr>
            <a:r>
              <a:rPr lang="en-US" sz="1800">
                <a:latin typeface="Verdana"/>
                <a:ea typeface="Verdana"/>
                <a:cs typeface="Verdana"/>
                <a:sym typeface="Verdana"/>
              </a:rPr>
              <a:t>Languages used :Python </a:t>
            </a:r>
            <a:endParaRPr sz="1800">
              <a:latin typeface="Verdana"/>
              <a:ea typeface="Verdana"/>
              <a:cs typeface="Verdana"/>
              <a:sym typeface="Verdana"/>
            </a:endParaRPr>
          </a:p>
          <a:p>
            <a:pPr indent="-342900" lvl="0" marL="457200" rtl="0" algn="just">
              <a:lnSpc>
                <a:spcPct val="115000"/>
              </a:lnSpc>
              <a:spcBef>
                <a:spcPts val="0"/>
              </a:spcBef>
              <a:spcAft>
                <a:spcPts val="0"/>
              </a:spcAft>
              <a:buSzPts val="1800"/>
              <a:buFont typeface="Verdana"/>
              <a:buChar char="•"/>
            </a:pPr>
            <a:r>
              <a:rPr lang="en-US" sz="1800">
                <a:latin typeface="Verdana"/>
                <a:ea typeface="Verdana"/>
                <a:cs typeface="Verdana"/>
                <a:sym typeface="Verdana"/>
              </a:rPr>
              <a:t>OS :Windows 7,8,8.1,10</a:t>
            </a:r>
            <a:endParaRPr/>
          </a:p>
          <a:p>
            <a:pPr indent="-342900" lvl="0" marL="457200" rtl="0" algn="just">
              <a:lnSpc>
                <a:spcPct val="115000"/>
              </a:lnSpc>
              <a:spcBef>
                <a:spcPts val="0"/>
              </a:spcBef>
              <a:spcAft>
                <a:spcPts val="0"/>
              </a:spcAft>
              <a:buSzPts val="1800"/>
              <a:buFont typeface="Verdana"/>
              <a:buChar char="•"/>
            </a:pPr>
            <a:r>
              <a:rPr lang="en-US" sz="1800">
                <a:latin typeface="Verdana"/>
                <a:ea typeface="Verdana"/>
                <a:cs typeface="Verdana"/>
                <a:sym typeface="Verdana"/>
              </a:rPr>
              <a:t>Libraries used : Pandas, Numpy, OS, Tensorflow, Keras etc.,</a:t>
            </a:r>
            <a:endParaRPr sz="1800">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US" sz="3600">
                <a:solidFill>
                  <a:srgbClr val="FF0000"/>
                </a:solidFill>
              </a:rPr>
              <a:t>Existing System</a:t>
            </a:r>
            <a:endParaRPr b="1" sz="3600">
              <a:solidFill>
                <a:srgbClr val="FF0000"/>
              </a:solidFill>
            </a:endParaRPr>
          </a:p>
        </p:txBody>
      </p:sp>
      <p:sp>
        <p:nvSpPr>
          <p:cNvPr id="131" name="Google Shape;131;p8"/>
          <p:cNvSpPr txBox="1"/>
          <p:nvPr>
            <p:ph idx="1" type="body"/>
          </p:nvPr>
        </p:nvSpPr>
        <p:spPr>
          <a:xfrm>
            <a:off x="457200" y="1671320"/>
            <a:ext cx="8229600" cy="45261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360"/>
              </a:spcBef>
              <a:spcAft>
                <a:spcPts val="0"/>
              </a:spcAft>
              <a:buSzPts val="1800"/>
              <a:buFont typeface="Arial"/>
              <a:buChar char="•"/>
            </a:pPr>
            <a:r>
              <a:rPr lang="en-US" sz="1800">
                <a:latin typeface="Verdana"/>
                <a:ea typeface="Verdana"/>
                <a:cs typeface="Verdana"/>
                <a:sym typeface="Verdana"/>
              </a:rPr>
              <a:t>The existing system for playing the 2048 game typically involves a human player manually making moves by sliding tiles on a grid.</a:t>
            </a:r>
            <a:endParaRPr sz="1800">
              <a:latin typeface="Verdana"/>
              <a:ea typeface="Verdana"/>
              <a:cs typeface="Verdana"/>
              <a:sym typeface="Verdana"/>
            </a:endParaRPr>
          </a:p>
          <a:p>
            <a:pPr indent="0" lvl="0" marL="457200" rtl="0" algn="l">
              <a:lnSpc>
                <a:spcPct val="100000"/>
              </a:lnSpc>
              <a:spcBef>
                <a:spcPts val="360"/>
              </a:spcBef>
              <a:spcAft>
                <a:spcPts val="0"/>
              </a:spcAft>
              <a:buNone/>
            </a:pPr>
            <a:r>
              <a:t/>
            </a:r>
            <a:endParaRPr sz="1800">
              <a:latin typeface="Verdana"/>
              <a:ea typeface="Verdana"/>
              <a:cs typeface="Verdana"/>
              <a:sym typeface="Verdana"/>
            </a:endParaRPr>
          </a:p>
          <a:p>
            <a:pPr indent="-285750" lvl="0" marL="285750" rtl="0" algn="l">
              <a:lnSpc>
                <a:spcPct val="100000"/>
              </a:lnSpc>
              <a:spcBef>
                <a:spcPts val="360"/>
              </a:spcBef>
              <a:spcAft>
                <a:spcPts val="0"/>
              </a:spcAft>
              <a:buSzPts val="1800"/>
              <a:buChar char="•"/>
            </a:pPr>
            <a:r>
              <a:rPr lang="en-US" sz="1800">
                <a:latin typeface="Verdana"/>
                <a:ea typeface="Verdana"/>
                <a:cs typeface="Verdana"/>
                <a:sym typeface="Verdana"/>
              </a:rPr>
              <a:t>It was developed based on deep convolutional neural networks trained by supervised learning.</a:t>
            </a:r>
            <a:endParaRPr/>
          </a:p>
          <a:p>
            <a:pPr indent="-335280" lvl="0" marL="457200" rtl="0" algn="l">
              <a:lnSpc>
                <a:spcPct val="100000"/>
              </a:lnSpc>
              <a:spcBef>
                <a:spcPts val="360"/>
              </a:spcBef>
              <a:spcAft>
                <a:spcPts val="0"/>
              </a:spcAft>
              <a:buSzPts val="1920"/>
              <a:buFont typeface="Arial"/>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2047c10114a_4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3600">
                <a:solidFill>
                  <a:srgbClr val="FF0000"/>
                </a:solidFill>
              </a:rPr>
              <a:t>Software Requirement Specification</a:t>
            </a:r>
            <a:endParaRPr b="1" sz="3600">
              <a:solidFill>
                <a:srgbClr val="FF0000"/>
              </a:solidFill>
            </a:endParaRPr>
          </a:p>
        </p:txBody>
      </p:sp>
      <p:sp>
        <p:nvSpPr>
          <p:cNvPr id="137" name="Google Shape;137;g2047c10114a_4_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sz="1800">
                <a:solidFill>
                  <a:srgbClr val="222222"/>
                </a:solidFill>
                <a:highlight>
                  <a:srgbClr val="FFFFFF"/>
                </a:highlight>
                <a:latin typeface="Verdana"/>
                <a:ea typeface="Verdana"/>
                <a:cs typeface="Verdana"/>
                <a:sym typeface="Verdana"/>
              </a:rPr>
              <a:t>Functional Requirements:</a:t>
            </a:r>
            <a:endParaRPr b="1" sz="1800">
              <a:solidFill>
                <a:srgbClr val="222222"/>
              </a:solidFill>
              <a:highlight>
                <a:srgbClr val="FFFFFF"/>
              </a:highlight>
              <a:latin typeface="Verdana"/>
              <a:ea typeface="Verdana"/>
              <a:cs typeface="Verdana"/>
              <a:sym typeface="Verdana"/>
            </a:endParaRPr>
          </a:p>
          <a:p>
            <a:pPr indent="-342900" lvl="0" marL="457200" rtl="0" algn="just">
              <a:spcBef>
                <a:spcPts val="360"/>
              </a:spcBef>
              <a:spcAft>
                <a:spcPts val="0"/>
              </a:spcAft>
              <a:buClr>
                <a:srgbClr val="222222"/>
              </a:buClr>
              <a:buSzPts val="1800"/>
              <a:buFont typeface="Verdana"/>
              <a:buChar char="•"/>
            </a:pPr>
            <a:r>
              <a:rPr lang="en-US" sz="1800">
                <a:solidFill>
                  <a:srgbClr val="222222"/>
                </a:solidFill>
                <a:highlight>
                  <a:srgbClr val="FFFFFF"/>
                </a:highlight>
                <a:latin typeface="Verdana"/>
                <a:ea typeface="Verdana"/>
                <a:cs typeface="Verdana"/>
                <a:sym typeface="Verdana"/>
              </a:rPr>
              <a:t>Game environment for the agent to interact with and learn from.</a:t>
            </a:r>
            <a:endParaRPr sz="1800">
              <a:solidFill>
                <a:srgbClr val="222222"/>
              </a:solidFill>
              <a:highlight>
                <a:srgbClr val="FFFFFF"/>
              </a:highlight>
              <a:latin typeface="Verdana"/>
              <a:ea typeface="Verdana"/>
              <a:cs typeface="Verdana"/>
              <a:sym typeface="Verdana"/>
            </a:endParaRPr>
          </a:p>
          <a:p>
            <a:pPr indent="-342900" lvl="0" marL="457200" rtl="0" algn="just">
              <a:spcBef>
                <a:spcPts val="0"/>
              </a:spcBef>
              <a:spcAft>
                <a:spcPts val="0"/>
              </a:spcAft>
              <a:buClr>
                <a:srgbClr val="222222"/>
              </a:buClr>
              <a:buSzPts val="1800"/>
              <a:buFont typeface="Verdana"/>
              <a:buChar char="•"/>
            </a:pPr>
            <a:r>
              <a:rPr lang="en-US" sz="1800">
                <a:solidFill>
                  <a:srgbClr val="222222"/>
                </a:solidFill>
                <a:highlight>
                  <a:srgbClr val="FFFFFF"/>
                </a:highlight>
                <a:latin typeface="Verdana"/>
                <a:ea typeface="Verdana"/>
                <a:cs typeface="Verdana"/>
                <a:sym typeface="Verdana"/>
              </a:rPr>
              <a:t>Reinforcement learning algorithm to train the agent to play the game.</a:t>
            </a:r>
            <a:endParaRPr sz="1800">
              <a:solidFill>
                <a:srgbClr val="222222"/>
              </a:solidFill>
              <a:highlight>
                <a:srgbClr val="FFFFFF"/>
              </a:highlight>
              <a:latin typeface="Verdana"/>
              <a:ea typeface="Verdana"/>
              <a:cs typeface="Verdana"/>
              <a:sym typeface="Verdana"/>
            </a:endParaRPr>
          </a:p>
          <a:p>
            <a:pPr indent="-342900" lvl="0" marL="457200" rtl="0" algn="just">
              <a:spcBef>
                <a:spcPts val="0"/>
              </a:spcBef>
              <a:spcAft>
                <a:spcPts val="0"/>
              </a:spcAft>
              <a:buClr>
                <a:srgbClr val="222222"/>
              </a:buClr>
              <a:buSzPts val="1800"/>
              <a:buFont typeface="Verdana"/>
              <a:buChar char="•"/>
            </a:pPr>
            <a:r>
              <a:rPr lang="en-US" sz="1800">
                <a:solidFill>
                  <a:srgbClr val="222222"/>
                </a:solidFill>
                <a:highlight>
                  <a:srgbClr val="FFFFFF"/>
                </a:highlight>
                <a:latin typeface="Verdana"/>
                <a:ea typeface="Verdana"/>
                <a:cs typeface="Verdana"/>
                <a:sym typeface="Verdana"/>
              </a:rPr>
              <a:t>Neural network architecture to estimate the expected reward.</a:t>
            </a:r>
            <a:endParaRPr sz="1800">
              <a:solidFill>
                <a:srgbClr val="222222"/>
              </a:solidFill>
              <a:highlight>
                <a:srgbClr val="FFFFFF"/>
              </a:highlight>
              <a:latin typeface="Verdana"/>
              <a:ea typeface="Verdana"/>
              <a:cs typeface="Verdana"/>
              <a:sym typeface="Verdana"/>
            </a:endParaRPr>
          </a:p>
          <a:p>
            <a:pPr indent="-342900" lvl="0" marL="457200" rtl="0" algn="just">
              <a:spcBef>
                <a:spcPts val="0"/>
              </a:spcBef>
              <a:spcAft>
                <a:spcPts val="0"/>
              </a:spcAft>
              <a:buClr>
                <a:srgbClr val="222222"/>
              </a:buClr>
              <a:buSzPts val="1800"/>
              <a:buFont typeface="Verdana"/>
              <a:buChar char="•"/>
            </a:pPr>
            <a:r>
              <a:rPr lang="en-US" sz="1800">
                <a:solidFill>
                  <a:srgbClr val="222222"/>
                </a:solidFill>
                <a:highlight>
                  <a:srgbClr val="FFFFFF"/>
                </a:highlight>
                <a:latin typeface="Verdana"/>
                <a:ea typeface="Verdana"/>
                <a:cs typeface="Verdana"/>
                <a:sym typeface="Verdana"/>
              </a:rPr>
              <a:t>Training data to train the agent effectively.</a:t>
            </a:r>
            <a:endParaRPr sz="1800">
              <a:solidFill>
                <a:srgbClr val="222222"/>
              </a:solidFill>
              <a:highlight>
                <a:srgbClr val="FFFFFF"/>
              </a:highlight>
              <a:latin typeface="Verdana"/>
              <a:ea typeface="Verdana"/>
              <a:cs typeface="Verdana"/>
              <a:sym typeface="Verdana"/>
            </a:endParaRPr>
          </a:p>
          <a:p>
            <a:pPr indent="0" lvl="0" marL="0" rtl="0" algn="l">
              <a:spcBef>
                <a:spcPts val="360"/>
              </a:spcBef>
              <a:spcAft>
                <a:spcPts val="0"/>
              </a:spcAft>
              <a:buClr>
                <a:schemeClr val="dk1"/>
              </a:buClr>
              <a:buSzPts val="1100"/>
              <a:buFont typeface="Arial"/>
              <a:buNone/>
            </a:pPr>
            <a:r>
              <a:rPr b="1" lang="en-US" sz="1800">
                <a:solidFill>
                  <a:srgbClr val="222222"/>
                </a:solidFill>
                <a:highlight>
                  <a:srgbClr val="FFFFFF"/>
                </a:highlight>
                <a:latin typeface="Verdana"/>
                <a:ea typeface="Verdana"/>
                <a:cs typeface="Verdana"/>
                <a:sym typeface="Verdana"/>
              </a:rPr>
              <a:t>Non Functional Requirements:</a:t>
            </a:r>
            <a:endParaRPr b="1" sz="1800">
              <a:solidFill>
                <a:srgbClr val="222222"/>
              </a:solidFill>
              <a:highlight>
                <a:srgbClr val="FFFFFF"/>
              </a:highlight>
              <a:latin typeface="Verdana"/>
              <a:ea typeface="Verdana"/>
              <a:cs typeface="Verdana"/>
              <a:sym typeface="Verdana"/>
            </a:endParaRPr>
          </a:p>
          <a:p>
            <a:pPr indent="-342900" lvl="0" marL="457200" rtl="0" algn="just">
              <a:spcBef>
                <a:spcPts val="360"/>
              </a:spcBef>
              <a:spcAft>
                <a:spcPts val="0"/>
              </a:spcAft>
              <a:buClr>
                <a:srgbClr val="222222"/>
              </a:buClr>
              <a:buSzPts val="1800"/>
              <a:buFont typeface="Verdana"/>
              <a:buChar char="•"/>
            </a:pPr>
            <a:r>
              <a:rPr lang="en-US" sz="1800">
                <a:solidFill>
                  <a:srgbClr val="222222"/>
                </a:solidFill>
                <a:highlight>
                  <a:srgbClr val="FFFFFF"/>
                </a:highlight>
                <a:latin typeface="Verdana"/>
                <a:ea typeface="Verdana"/>
                <a:cs typeface="Verdana"/>
                <a:sym typeface="Verdana"/>
              </a:rPr>
              <a:t>Performance of game play with a minimum acceptable game score and win rate.  </a:t>
            </a:r>
            <a:endParaRPr sz="1800">
              <a:solidFill>
                <a:srgbClr val="222222"/>
              </a:solidFill>
              <a:highlight>
                <a:srgbClr val="FFFFFF"/>
              </a:highlight>
              <a:latin typeface="Verdana"/>
              <a:ea typeface="Verdana"/>
              <a:cs typeface="Verdana"/>
              <a:sym typeface="Verdana"/>
            </a:endParaRPr>
          </a:p>
          <a:p>
            <a:pPr indent="-342900" lvl="0" marL="457200" rtl="0" algn="just">
              <a:spcBef>
                <a:spcPts val="0"/>
              </a:spcBef>
              <a:spcAft>
                <a:spcPts val="0"/>
              </a:spcAft>
              <a:buClr>
                <a:srgbClr val="222222"/>
              </a:buClr>
              <a:buSzPts val="1800"/>
              <a:buFont typeface="Verdana"/>
              <a:buChar char="•"/>
            </a:pPr>
            <a:r>
              <a:rPr lang="en-US" sz="1800">
                <a:solidFill>
                  <a:srgbClr val="222222"/>
                </a:solidFill>
                <a:highlight>
                  <a:srgbClr val="FFFFFF"/>
                </a:highlight>
                <a:latin typeface="Verdana"/>
                <a:ea typeface="Verdana"/>
                <a:cs typeface="Verdana"/>
                <a:sym typeface="Verdana"/>
              </a:rPr>
              <a:t>Scalabile to handle increase in the size of the training data.</a:t>
            </a:r>
            <a:endParaRPr sz="1800">
              <a:solidFill>
                <a:srgbClr val="222222"/>
              </a:solidFill>
              <a:highlight>
                <a:srgbClr val="FFFFFF"/>
              </a:highlight>
              <a:latin typeface="Verdana"/>
              <a:ea typeface="Verdana"/>
              <a:cs typeface="Verdana"/>
              <a:sym typeface="Verdana"/>
            </a:endParaRPr>
          </a:p>
          <a:p>
            <a:pPr indent="-342900" lvl="0" marL="457200" rtl="0" algn="just">
              <a:spcBef>
                <a:spcPts val="0"/>
              </a:spcBef>
              <a:spcAft>
                <a:spcPts val="0"/>
              </a:spcAft>
              <a:buClr>
                <a:srgbClr val="222222"/>
              </a:buClr>
              <a:buSzPts val="1800"/>
              <a:buFont typeface="Verdana"/>
              <a:buChar char="•"/>
            </a:pPr>
            <a:r>
              <a:rPr lang="en-US" sz="1800">
                <a:solidFill>
                  <a:srgbClr val="222222"/>
                </a:solidFill>
                <a:highlight>
                  <a:srgbClr val="FFFFFF"/>
                </a:highlight>
                <a:latin typeface="Verdana"/>
                <a:ea typeface="Verdana"/>
                <a:cs typeface="Verdana"/>
                <a:sym typeface="Verdana"/>
              </a:rPr>
              <a:t>Compatibility with different operating systems are considered.</a:t>
            </a:r>
            <a:endParaRPr sz="1800">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US" sz="3600">
                <a:solidFill>
                  <a:srgbClr val="FF0000"/>
                </a:solidFill>
              </a:rPr>
              <a:t>Proposed System</a:t>
            </a:r>
            <a:endParaRPr b="1" sz="3600">
              <a:solidFill>
                <a:srgbClr val="FF0000"/>
              </a:solidFill>
            </a:endParaRPr>
          </a:p>
        </p:txBody>
      </p:sp>
      <p:sp>
        <p:nvSpPr>
          <p:cNvPr id="143" name="Google Shape;143;p1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457200" lvl="0" marL="457200" rtl="0" algn="just">
              <a:lnSpc>
                <a:spcPct val="100000"/>
              </a:lnSpc>
              <a:spcBef>
                <a:spcPts val="360"/>
              </a:spcBef>
              <a:spcAft>
                <a:spcPts val="0"/>
              </a:spcAft>
              <a:buSzPts val="1800"/>
              <a:buFont typeface="Verdana"/>
              <a:buChar char="•"/>
            </a:pPr>
            <a:r>
              <a:rPr lang="en-US" sz="1800">
                <a:latin typeface="Verdana"/>
                <a:ea typeface="Verdana"/>
                <a:cs typeface="Verdana"/>
                <a:sym typeface="Verdana"/>
              </a:rPr>
              <a:t>The proposed system is developing an agent to play the 2048 game using deep reinforcement learning involves using a machine learning algorithm to learn how to play the game by observing the rewards received for making different moves in the game.</a:t>
            </a:r>
            <a:endParaRPr sz="1800">
              <a:latin typeface="Verdana"/>
              <a:ea typeface="Verdana"/>
              <a:cs typeface="Verdana"/>
              <a:sym typeface="Verdana"/>
            </a:endParaRPr>
          </a:p>
          <a:p>
            <a:pPr indent="0" lvl="0" marL="0" rtl="0" algn="just">
              <a:lnSpc>
                <a:spcPct val="100000"/>
              </a:lnSpc>
              <a:spcBef>
                <a:spcPts val="360"/>
              </a:spcBef>
              <a:spcAft>
                <a:spcPts val="0"/>
              </a:spcAft>
              <a:buNone/>
            </a:pPr>
            <a:r>
              <a:t/>
            </a:r>
            <a:endParaRPr sz="1800">
              <a:latin typeface="Verdana"/>
              <a:ea typeface="Verdana"/>
              <a:cs typeface="Verdana"/>
              <a:sym typeface="Verdana"/>
            </a:endParaRPr>
          </a:p>
          <a:p>
            <a:pPr indent="-457200" lvl="0" marL="457200" rtl="0" algn="just">
              <a:lnSpc>
                <a:spcPct val="100000"/>
              </a:lnSpc>
              <a:spcBef>
                <a:spcPts val="360"/>
              </a:spcBef>
              <a:spcAft>
                <a:spcPts val="0"/>
              </a:spcAft>
              <a:buSzPts val="1800"/>
              <a:buFont typeface="Verdana"/>
              <a:buChar char="•"/>
            </a:pPr>
            <a:r>
              <a:rPr lang="en-US" sz="1800">
                <a:latin typeface="Verdana"/>
                <a:ea typeface="Verdana"/>
                <a:cs typeface="Verdana"/>
                <a:sym typeface="Verdana"/>
              </a:rPr>
              <a:t>In the proposed system, the agent would replace the human player and would observe the state of the game, select actions based on a policy, perform the selected action, receive a reward from the game environment, and update its policy based on the received reward and the current state.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US" sz="3600">
                <a:solidFill>
                  <a:srgbClr val="FF0000"/>
                </a:solidFill>
              </a:rPr>
              <a:t>Algorithm  </a:t>
            </a:r>
            <a:endParaRPr b="1" sz="3600">
              <a:solidFill>
                <a:srgbClr val="FF0000"/>
              </a:solidFill>
            </a:endParaRPr>
          </a:p>
        </p:txBody>
      </p:sp>
      <p:sp>
        <p:nvSpPr>
          <p:cNvPr id="149" name="Google Shape;149;p11"/>
          <p:cNvSpPr txBox="1"/>
          <p:nvPr>
            <p:ph idx="1" type="body"/>
          </p:nvPr>
        </p:nvSpPr>
        <p:spPr>
          <a:xfrm>
            <a:off x="457200" y="1417650"/>
            <a:ext cx="8229600" cy="48522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360"/>
              </a:spcBef>
              <a:spcAft>
                <a:spcPts val="0"/>
              </a:spcAft>
              <a:buSzPts val="1018"/>
              <a:buNone/>
            </a:pPr>
            <a:r>
              <a:rPr b="1" lang="en-US" sz="1800">
                <a:solidFill>
                  <a:srgbClr val="222222"/>
                </a:solidFill>
                <a:highlight>
                  <a:srgbClr val="FFFFFF"/>
                </a:highlight>
                <a:latin typeface="Verdana"/>
                <a:ea typeface="Verdana"/>
                <a:cs typeface="Verdana"/>
                <a:sym typeface="Verdana"/>
              </a:rPr>
              <a:t>Step 1</a:t>
            </a:r>
            <a:r>
              <a:rPr lang="en-US" sz="1800">
                <a:solidFill>
                  <a:srgbClr val="222222"/>
                </a:solidFill>
                <a:highlight>
                  <a:srgbClr val="FFFFFF"/>
                </a:highlight>
                <a:latin typeface="Verdana"/>
                <a:ea typeface="Verdana"/>
                <a:cs typeface="Verdana"/>
                <a:sym typeface="Verdana"/>
              </a:rPr>
              <a:t>: The board will have two tiles in random locations, each of </a:t>
            </a:r>
            <a:endParaRPr sz="1800">
              <a:solidFill>
                <a:srgbClr val="222222"/>
              </a:solidFill>
              <a:highlight>
                <a:srgbClr val="FFFFFF"/>
              </a:highlight>
              <a:latin typeface="Verdana"/>
              <a:ea typeface="Verdana"/>
              <a:cs typeface="Verdana"/>
              <a:sym typeface="Verdana"/>
            </a:endParaRPr>
          </a:p>
          <a:p>
            <a:pPr indent="0" lvl="0" marL="0" rtl="0" algn="just">
              <a:lnSpc>
                <a:spcPct val="90000"/>
              </a:lnSpc>
              <a:spcBef>
                <a:spcPts val="360"/>
              </a:spcBef>
              <a:spcAft>
                <a:spcPts val="0"/>
              </a:spcAft>
              <a:buSzPts val="1018"/>
              <a:buNone/>
            </a:pPr>
            <a:r>
              <a:rPr lang="en-US" sz="1800">
                <a:solidFill>
                  <a:srgbClr val="222222"/>
                </a:solidFill>
                <a:highlight>
                  <a:srgbClr val="FFFFFF"/>
                </a:highlight>
                <a:latin typeface="Verdana"/>
                <a:ea typeface="Verdana"/>
                <a:cs typeface="Verdana"/>
                <a:sym typeface="Verdana"/>
              </a:rPr>
              <a:t>which either has a “2” or a “4” on it – each has an independent 10% chance of being a “4”, or otherwise a is a “2”.</a:t>
            </a:r>
            <a:endParaRPr sz="1800">
              <a:solidFill>
                <a:srgbClr val="222222"/>
              </a:solidFill>
              <a:highlight>
                <a:srgbClr val="FFFFFF"/>
              </a:highlight>
              <a:latin typeface="Verdana"/>
              <a:ea typeface="Verdana"/>
              <a:cs typeface="Verdana"/>
              <a:sym typeface="Verdana"/>
            </a:endParaRPr>
          </a:p>
          <a:p>
            <a:pPr indent="0" lvl="0" marL="0" rtl="0" algn="just">
              <a:lnSpc>
                <a:spcPct val="90000"/>
              </a:lnSpc>
              <a:spcBef>
                <a:spcPts val="360"/>
              </a:spcBef>
              <a:spcAft>
                <a:spcPts val="0"/>
              </a:spcAft>
              <a:buSzPts val="1018"/>
              <a:buNone/>
            </a:pPr>
            <a:r>
              <a:rPr b="1" lang="en-US" sz="1800">
                <a:solidFill>
                  <a:srgbClr val="222222"/>
                </a:solidFill>
                <a:highlight>
                  <a:srgbClr val="FFFFFF"/>
                </a:highlight>
                <a:latin typeface="Verdana"/>
                <a:ea typeface="Verdana"/>
                <a:cs typeface="Verdana"/>
                <a:sym typeface="Verdana"/>
              </a:rPr>
              <a:t>Step 2</a:t>
            </a:r>
            <a:r>
              <a:rPr lang="en-US" sz="1800">
                <a:solidFill>
                  <a:srgbClr val="222222"/>
                </a:solidFill>
                <a:highlight>
                  <a:srgbClr val="FFFFFF"/>
                </a:highlight>
                <a:latin typeface="Verdana"/>
                <a:ea typeface="Verdana"/>
                <a:cs typeface="Verdana"/>
                <a:sym typeface="Verdana"/>
              </a:rPr>
              <a:t>: Moves are performed by shifting all tiles towards one edge – up,down, left, or right. When doing this, any tiles with the same value that are adjacent to each other and are moving together will merge</a:t>
            </a:r>
            <a:endParaRPr sz="1800">
              <a:solidFill>
                <a:srgbClr val="222222"/>
              </a:solidFill>
              <a:highlight>
                <a:srgbClr val="FFFFFF"/>
              </a:highlight>
              <a:latin typeface="Verdana"/>
              <a:ea typeface="Verdana"/>
              <a:cs typeface="Verdana"/>
              <a:sym typeface="Verdana"/>
            </a:endParaRPr>
          </a:p>
          <a:p>
            <a:pPr indent="0" lvl="0" marL="0" rtl="0" algn="just">
              <a:lnSpc>
                <a:spcPct val="90000"/>
              </a:lnSpc>
              <a:spcBef>
                <a:spcPts val="360"/>
              </a:spcBef>
              <a:spcAft>
                <a:spcPts val="0"/>
              </a:spcAft>
              <a:buSzPts val="1018"/>
              <a:buNone/>
            </a:pPr>
            <a:r>
              <a:rPr b="1" lang="en-US" sz="1800">
                <a:solidFill>
                  <a:srgbClr val="222222"/>
                </a:solidFill>
                <a:highlight>
                  <a:srgbClr val="FFFFFF"/>
                </a:highlight>
                <a:latin typeface="Verdana"/>
                <a:ea typeface="Verdana"/>
                <a:cs typeface="Verdana"/>
                <a:sym typeface="Verdana"/>
              </a:rPr>
              <a:t>Step 3</a:t>
            </a:r>
            <a:r>
              <a:rPr lang="en-US" sz="1800">
                <a:solidFill>
                  <a:srgbClr val="222222"/>
                </a:solidFill>
                <a:highlight>
                  <a:srgbClr val="FFFFFF"/>
                </a:highlight>
                <a:latin typeface="Verdana"/>
                <a:ea typeface="Verdana"/>
                <a:cs typeface="Verdana"/>
                <a:sym typeface="Verdana"/>
              </a:rPr>
              <a:t>: After merging, a new tile equal to the sum of the earlier two      will be placed onto the board. This is placed in a random location.</a:t>
            </a:r>
            <a:endParaRPr sz="1800">
              <a:solidFill>
                <a:srgbClr val="222222"/>
              </a:solidFill>
              <a:highlight>
                <a:srgbClr val="FFFFFF"/>
              </a:highlight>
              <a:latin typeface="Verdana"/>
              <a:ea typeface="Verdana"/>
              <a:cs typeface="Verdana"/>
              <a:sym typeface="Verdana"/>
            </a:endParaRPr>
          </a:p>
          <a:p>
            <a:pPr indent="0" lvl="0" marL="0" rtl="0" algn="just">
              <a:lnSpc>
                <a:spcPct val="90000"/>
              </a:lnSpc>
              <a:spcBef>
                <a:spcPts val="360"/>
              </a:spcBef>
              <a:spcAft>
                <a:spcPts val="0"/>
              </a:spcAft>
              <a:buClr>
                <a:schemeClr val="dk1"/>
              </a:buClr>
              <a:buSzPts val="1018"/>
              <a:buFont typeface="Arial"/>
              <a:buNone/>
            </a:pPr>
            <a:r>
              <a:rPr b="1" lang="en-US" sz="1800">
                <a:solidFill>
                  <a:srgbClr val="222222"/>
                </a:solidFill>
                <a:highlight>
                  <a:srgbClr val="FFFFFF"/>
                </a:highlight>
                <a:latin typeface="Verdana"/>
                <a:ea typeface="Verdana"/>
                <a:cs typeface="Verdana"/>
                <a:sym typeface="Verdana"/>
              </a:rPr>
              <a:t>Step 4</a:t>
            </a:r>
            <a:r>
              <a:rPr lang="en-US" sz="1800">
                <a:solidFill>
                  <a:srgbClr val="222222"/>
                </a:solidFill>
                <a:highlight>
                  <a:srgbClr val="FFFFFF"/>
                </a:highlight>
                <a:latin typeface="Verdana"/>
                <a:ea typeface="Verdana"/>
                <a:cs typeface="Verdana"/>
                <a:sym typeface="Verdana"/>
              </a:rPr>
              <a:t>: The game then continues until there are no more moves possible.</a:t>
            </a:r>
            <a:endParaRPr sz="1800">
              <a:solidFill>
                <a:srgbClr val="222222"/>
              </a:solidFill>
              <a:highlight>
                <a:srgbClr val="FFFFFF"/>
              </a:highlight>
              <a:latin typeface="Verdana"/>
              <a:ea typeface="Verdana"/>
              <a:cs typeface="Verdana"/>
              <a:sym typeface="Verdana"/>
            </a:endParaRPr>
          </a:p>
          <a:p>
            <a:pPr indent="0" lvl="0" marL="0" rtl="0" algn="just">
              <a:lnSpc>
                <a:spcPct val="90000"/>
              </a:lnSpc>
              <a:spcBef>
                <a:spcPts val="360"/>
              </a:spcBef>
              <a:spcAft>
                <a:spcPts val="0"/>
              </a:spcAft>
              <a:buClr>
                <a:schemeClr val="dk1"/>
              </a:buClr>
              <a:buSzPts val="1018"/>
              <a:buFont typeface="Arial"/>
              <a:buNone/>
            </a:pPr>
            <a:r>
              <a:rPr lang="en-US" sz="1800">
                <a:solidFill>
                  <a:srgbClr val="222222"/>
                </a:solidFill>
                <a:highlight>
                  <a:srgbClr val="FFFFFF"/>
                </a:highlight>
                <a:latin typeface="Verdana"/>
                <a:ea typeface="Verdana"/>
                <a:cs typeface="Verdana"/>
                <a:sym typeface="Verdana"/>
              </a:rPr>
              <a:t>In general, the goal of the game is to reach a single tile with a value of “2048”. However, the game doesn’t stop here, and we can continue playing as far as it is possible to go, aiming for the largest possible tile.</a:t>
            </a:r>
            <a:endParaRPr sz="1800">
              <a:solidFill>
                <a:srgbClr val="222222"/>
              </a:solidFill>
              <a:highlight>
                <a:srgbClr val="FFFFFF"/>
              </a:highlight>
              <a:latin typeface="Verdana"/>
              <a:ea typeface="Verdana"/>
              <a:cs typeface="Verdana"/>
              <a:sym typeface="Verdana"/>
            </a:endParaRPr>
          </a:p>
          <a:p>
            <a:pPr indent="0" lvl="0" marL="0" rtl="0" algn="just">
              <a:lnSpc>
                <a:spcPct val="90000"/>
              </a:lnSpc>
              <a:spcBef>
                <a:spcPts val="360"/>
              </a:spcBef>
              <a:spcAft>
                <a:spcPts val="0"/>
              </a:spcAft>
              <a:buSzPts val="1018"/>
              <a:buNone/>
            </a:pPr>
            <a:r>
              <a:t/>
            </a:r>
            <a:endParaRPr sz="1800">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229b82639a7_0_0"/>
          <p:cNvSpPr txBox="1"/>
          <p:nvPr>
            <p:ph type="title"/>
          </p:nvPr>
        </p:nvSpPr>
        <p:spPr>
          <a:xfrm flipH="1" rot="8639">
            <a:off x="654688" y="3300826"/>
            <a:ext cx="7401623" cy="17220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t/>
            </a:r>
            <a:endParaRPr/>
          </a:p>
        </p:txBody>
      </p:sp>
      <p:sp>
        <p:nvSpPr>
          <p:cNvPr id="155" name="Google Shape;155;g229b82639a7_0_0"/>
          <p:cNvSpPr txBox="1"/>
          <p:nvPr>
            <p:ph idx="1" type="body"/>
          </p:nvPr>
        </p:nvSpPr>
        <p:spPr>
          <a:xfrm>
            <a:off x="332350" y="1876500"/>
            <a:ext cx="8229600" cy="25023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t/>
            </a:r>
            <a:endParaRPr/>
          </a:p>
        </p:txBody>
      </p:sp>
      <p:pic>
        <p:nvPicPr>
          <p:cNvPr id="156" name="Google Shape;156;g229b82639a7_0_0"/>
          <p:cNvPicPr preferRelativeResize="0"/>
          <p:nvPr/>
        </p:nvPicPr>
        <p:blipFill>
          <a:blip r:embed="rId3">
            <a:alphaModFix/>
          </a:blip>
          <a:stretch>
            <a:fillRect/>
          </a:stretch>
        </p:blipFill>
        <p:spPr>
          <a:xfrm>
            <a:off x="306850" y="420350"/>
            <a:ext cx="8530301" cy="4878850"/>
          </a:xfrm>
          <a:prstGeom prst="rect">
            <a:avLst/>
          </a:prstGeom>
          <a:noFill/>
          <a:ln>
            <a:noFill/>
          </a:ln>
        </p:spPr>
      </p:pic>
      <p:sp>
        <p:nvSpPr>
          <p:cNvPr id="157" name="Google Shape;157;g229b82639a7_0_0"/>
          <p:cNvSpPr txBox="1"/>
          <p:nvPr/>
        </p:nvSpPr>
        <p:spPr>
          <a:xfrm>
            <a:off x="3270975" y="5107950"/>
            <a:ext cx="557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fig - flowchart of gameplay</a:t>
            </a:r>
            <a:endParaRPr sz="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ph type="title"/>
          </p:nvPr>
        </p:nvSpPr>
        <p:spPr>
          <a:xfrm>
            <a:off x="133509" y="1730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US" sz="3600"/>
              <a:t>	</a:t>
            </a:r>
            <a:r>
              <a:rPr b="1" lang="en-US" sz="3600">
                <a:solidFill>
                  <a:srgbClr val="FF0000"/>
                </a:solidFill>
              </a:rPr>
              <a:t>Design</a:t>
            </a:r>
            <a:endParaRPr b="1" sz="3600">
              <a:solidFill>
                <a:srgbClr val="FF0000"/>
              </a:solidFill>
            </a:endParaRPr>
          </a:p>
        </p:txBody>
      </p:sp>
      <p:sp>
        <p:nvSpPr>
          <p:cNvPr id="163" name="Google Shape;163;p12"/>
          <p:cNvSpPr txBox="1"/>
          <p:nvPr>
            <p:ph idx="1" type="body"/>
          </p:nvPr>
        </p:nvSpPr>
        <p:spPr>
          <a:xfrm>
            <a:off x="894080" y="1178560"/>
            <a:ext cx="6289040" cy="4094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360"/>
              </a:spcBef>
              <a:spcAft>
                <a:spcPts val="0"/>
              </a:spcAft>
              <a:buSzPts val="1800"/>
              <a:buNone/>
            </a:pPr>
            <a:r>
              <a:rPr lang="en-US" sz="2800">
                <a:solidFill>
                  <a:srgbClr val="FF0000"/>
                </a:solidFill>
              </a:rPr>
              <a:t>Usecase Diagram:</a:t>
            </a:r>
            <a:endParaRPr sz="2800">
              <a:solidFill>
                <a:srgbClr val="FF0000"/>
              </a:solidFill>
            </a:endParaRPr>
          </a:p>
        </p:txBody>
      </p:sp>
      <p:pic>
        <p:nvPicPr>
          <p:cNvPr id="164" name="Google Shape;164;p12"/>
          <p:cNvPicPr preferRelativeResize="0"/>
          <p:nvPr/>
        </p:nvPicPr>
        <p:blipFill rotWithShape="1">
          <a:blip r:embed="rId3">
            <a:alphaModFix/>
          </a:blip>
          <a:srcRect b="15015" l="6834" r="4192" t="16106"/>
          <a:stretch/>
        </p:blipFill>
        <p:spPr>
          <a:xfrm>
            <a:off x="1275080" y="1823630"/>
            <a:ext cx="6746240" cy="42875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3"/>
          <p:cNvSpPr txBox="1"/>
          <p:nvPr>
            <p:ph type="ctrTitle"/>
          </p:nvPr>
        </p:nvSpPr>
        <p:spPr>
          <a:xfrm flipH="1" rot="10800000">
            <a:off x="2037080" y="3493770"/>
            <a:ext cx="3164840" cy="39243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45454"/>
              <a:buNone/>
            </a:pPr>
            <a:r>
              <a:t/>
            </a:r>
            <a:endParaRPr/>
          </a:p>
        </p:txBody>
      </p:sp>
      <p:sp>
        <p:nvSpPr>
          <p:cNvPr id="170" name="Google Shape;170;p13"/>
          <p:cNvSpPr txBox="1"/>
          <p:nvPr>
            <p:ph idx="1" type="subTitle"/>
          </p:nvPr>
        </p:nvSpPr>
        <p:spPr>
          <a:xfrm>
            <a:off x="370840" y="579120"/>
            <a:ext cx="3332480" cy="599439"/>
          </a:xfrm>
          <a:prstGeom prst="rect">
            <a:avLst/>
          </a:prstGeom>
          <a:noFill/>
          <a:ln>
            <a:noFill/>
          </a:ln>
        </p:spPr>
        <p:txBody>
          <a:bodyPr anchorCtr="0" anchor="t" bIns="45700" lIns="91425" spcFirstLastPara="1" rIns="91425" wrap="square" tIns="45700">
            <a:noAutofit/>
          </a:bodyPr>
          <a:lstStyle/>
          <a:p>
            <a:pPr indent="-431800" lvl="0" marL="457200" rtl="0" algn="ctr">
              <a:lnSpc>
                <a:spcPct val="100000"/>
              </a:lnSpc>
              <a:spcBef>
                <a:spcPts val="640"/>
              </a:spcBef>
              <a:spcAft>
                <a:spcPts val="0"/>
              </a:spcAft>
              <a:buClr>
                <a:srgbClr val="888888"/>
              </a:buClr>
              <a:buSzPts val="3200"/>
              <a:buNone/>
            </a:pPr>
            <a:r>
              <a:rPr lang="en-US" sz="2800">
                <a:solidFill>
                  <a:srgbClr val="FF0000"/>
                </a:solidFill>
              </a:rPr>
              <a:t>Class Diagram:</a:t>
            </a:r>
            <a:endParaRPr sz="2800">
              <a:solidFill>
                <a:srgbClr val="FF0000"/>
              </a:solidFill>
            </a:endParaRPr>
          </a:p>
        </p:txBody>
      </p:sp>
      <p:pic>
        <p:nvPicPr>
          <p:cNvPr id="171" name="Google Shape;171;p13"/>
          <p:cNvPicPr preferRelativeResize="0"/>
          <p:nvPr/>
        </p:nvPicPr>
        <p:blipFill rotWithShape="1">
          <a:blip r:embed="rId3">
            <a:alphaModFix/>
          </a:blip>
          <a:srcRect b="25993" l="15012" r="13776" t="26475"/>
          <a:stretch/>
        </p:blipFill>
        <p:spPr>
          <a:xfrm>
            <a:off x="335280" y="1178559"/>
            <a:ext cx="8534400" cy="425704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4"/>
          <p:cNvSpPr txBox="1"/>
          <p:nvPr>
            <p:ph type="ctrTitle"/>
          </p:nvPr>
        </p:nvSpPr>
        <p:spPr>
          <a:xfrm flipH="1" rot="10800000">
            <a:off x="2743200" y="1371598"/>
            <a:ext cx="4694988" cy="213361"/>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45454"/>
              <a:buNone/>
            </a:pPr>
            <a:r>
              <a:t/>
            </a:r>
            <a:endParaRPr/>
          </a:p>
        </p:txBody>
      </p:sp>
      <p:sp>
        <p:nvSpPr>
          <p:cNvPr id="177" name="Google Shape;177;p14"/>
          <p:cNvSpPr txBox="1"/>
          <p:nvPr>
            <p:ph idx="1" type="subTitle"/>
          </p:nvPr>
        </p:nvSpPr>
        <p:spPr>
          <a:xfrm>
            <a:off x="132080" y="487680"/>
            <a:ext cx="4622800" cy="629920"/>
          </a:xfrm>
          <a:prstGeom prst="rect">
            <a:avLst/>
          </a:prstGeom>
          <a:noFill/>
          <a:ln>
            <a:noFill/>
          </a:ln>
        </p:spPr>
        <p:txBody>
          <a:bodyPr anchorCtr="0" anchor="t" bIns="45700" lIns="91425" spcFirstLastPara="1" rIns="91425" wrap="square" tIns="45700">
            <a:noAutofit/>
          </a:bodyPr>
          <a:lstStyle/>
          <a:p>
            <a:pPr indent="-431800" lvl="0" marL="457200" rtl="0" algn="ctr">
              <a:lnSpc>
                <a:spcPct val="100000"/>
              </a:lnSpc>
              <a:spcBef>
                <a:spcPts val="640"/>
              </a:spcBef>
              <a:spcAft>
                <a:spcPts val="0"/>
              </a:spcAft>
              <a:buClr>
                <a:srgbClr val="888888"/>
              </a:buClr>
              <a:buSzPts val="3200"/>
              <a:buNone/>
            </a:pPr>
            <a:r>
              <a:rPr lang="en-US" sz="2800">
                <a:solidFill>
                  <a:srgbClr val="FF0000"/>
                </a:solidFill>
                <a:latin typeface="Calibri"/>
                <a:ea typeface="Calibri"/>
                <a:cs typeface="Calibri"/>
                <a:sym typeface="Calibri"/>
              </a:rPr>
              <a:t>Sequence</a:t>
            </a:r>
            <a:r>
              <a:rPr lang="en-US">
                <a:solidFill>
                  <a:srgbClr val="FF0000"/>
                </a:solidFill>
                <a:latin typeface="Calibri"/>
                <a:ea typeface="Calibri"/>
                <a:cs typeface="Calibri"/>
                <a:sym typeface="Calibri"/>
              </a:rPr>
              <a:t> </a:t>
            </a:r>
            <a:r>
              <a:rPr lang="en-US" sz="2800">
                <a:solidFill>
                  <a:srgbClr val="FF0000"/>
                </a:solidFill>
                <a:latin typeface="Calibri"/>
                <a:ea typeface="Calibri"/>
                <a:cs typeface="Calibri"/>
                <a:sym typeface="Calibri"/>
              </a:rPr>
              <a:t>Diagram</a:t>
            </a:r>
            <a:r>
              <a:rPr lang="en-US">
                <a:solidFill>
                  <a:srgbClr val="FF0000"/>
                </a:solidFill>
                <a:latin typeface="Calibri"/>
                <a:ea typeface="Calibri"/>
                <a:cs typeface="Calibri"/>
                <a:sym typeface="Calibri"/>
              </a:rPr>
              <a:t>:</a:t>
            </a:r>
            <a:endParaRPr>
              <a:solidFill>
                <a:srgbClr val="FF0000"/>
              </a:solidFill>
              <a:latin typeface="Calibri"/>
              <a:ea typeface="Calibri"/>
              <a:cs typeface="Calibri"/>
              <a:sym typeface="Calibri"/>
            </a:endParaRPr>
          </a:p>
        </p:txBody>
      </p:sp>
      <p:pic>
        <p:nvPicPr>
          <p:cNvPr id="178" name="Google Shape;178;p14"/>
          <p:cNvPicPr preferRelativeResize="0"/>
          <p:nvPr/>
        </p:nvPicPr>
        <p:blipFill rotWithShape="1">
          <a:blip r:embed="rId3">
            <a:alphaModFix/>
          </a:blip>
          <a:srcRect b="19625" l="8753" r="8837" t="17221"/>
          <a:stretch/>
        </p:blipFill>
        <p:spPr>
          <a:xfrm>
            <a:off x="1107440" y="1188720"/>
            <a:ext cx="6807200" cy="50088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1f9b28bbcf3_2_0"/>
          <p:cNvSpPr txBox="1"/>
          <p:nvPr>
            <p:ph type="ctrTitle"/>
          </p:nvPr>
        </p:nvSpPr>
        <p:spPr>
          <a:xfrm>
            <a:off x="685800" y="336175"/>
            <a:ext cx="7772400" cy="7899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3600">
                <a:solidFill>
                  <a:srgbClr val="FF0000"/>
                </a:solidFill>
              </a:rPr>
              <a:t>Implementation</a:t>
            </a:r>
            <a:endParaRPr b="1" sz="3600">
              <a:solidFill>
                <a:srgbClr val="FF0000"/>
              </a:solidFill>
            </a:endParaRPr>
          </a:p>
        </p:txBody>
      </p:sp>
      <p:sp>
        <p:nvSpPr>
          <p:cNvPr id="184" name="Google Shape;184;g1f9b28bbcf3_2_0"/>
          <p:cNvSpPr txBox="1"/>
          <p:nvPr>
            <p:ph idx="1" type="subTitle"/>
          </p:nvPr>
        </p:nvSpPr>
        <p:spPr>
          <a:xfrm>
            <a:off x="605200" y="1479175"/>
            <a:ext cx="7772400" cy="5026200"/>
          </a:xfrm>
          <a:prstGeom prst="rect">
            <a:avLst/>
          </a:prstGeom>
        </p:spPr>
        <p:txBody>
          <a:bodyPr anchorCtr="0" anchor="t" bIns="45700" lIns="91425" spcFirstLastPara="1" rIns="91425" wrap="square" tIns="45700">
            <a:normAutofit/>
          </a:bodyPr>
          <a:lstStyle/>
          <a:p>
            <a:pPr indent="0" lvl="0" marL="0" rtl="0" algn="just">
              <a:spcBef>
                <a:spcPts val="640"/>
              </a:spcBef>
              <a:spcAft>
                <a:spcPts val="0"/>
              </a:spcAft>
              <a:buNone/>
            </a:pPr>
            <a:r>
              <a:rPr lang="en-US" sz="1800">
                <a:solidFill>
                  <a:srgbClr val="222222"/>
                </a:solidFill>
                <a:highlight>
                  <a:srgbClr val="FFFFFF"/>
                </a:highlight>
                <a:latin typeface="Verdana"/>
                <a:ea typeface="Verdana"/>
                <a:cs typeface="Verdana"/>
                <a:sym typeface="Verdana"/>
              </a:rPr>
              <a:t>           </a:t>
            </a:r>
            <a:r>
              <a:rPr lang="en-US" sz="1900">
                <a:solidFill>
                  <a:srgbClr val="222222"/>
                </a:solidFill>
                <a:highlight>
                  <a:srgbClr val="FFFFFF"/>
                </a:highlight>
                <a:latin typeface="Verdana"/>
                <a:ea typeface="Verdana"/>
                <a:cs typeface="Verdana"/>
                <a:sym typeface="Verdana"/>
              </a:rPr>
              <a:t>The Convolutional Neural Network is implemented using Tensorflow Library. We used tf.train.RMSPropOptimizer() for the optimization algorithm and tf.nn.relu() activation function. Each neural network was trained with 100M episodes for convergence using the reinforcement learning methodology. Every 1M training episodes, or 100k testing episodes, were used to evaluate the learning performance. The dataset is created with the trained weights. The epsilon greedy technique and the hyperparameter gamma for Q-learning are employed. The current reward is determined by the number of tile mergers. The CNN method of playing the 2048 game has generally produced encouraging results, with some models attaining scores much higher than human players.</a:t>
            </a:r>
            <a:endParaRPr sz="1900">
              <a:solidFill>
                <a:srgbClr val="222222"/>
              </a:solidFill>
              <a:highlight>
                <a:srgbClr val="FFFFFF"/>
              </a:highlight>
              <a:latin typeface="Verdana"/>
              <a:ea typeface="Verdana"/>
              <a:cs typeface="Verdana"/>
              <a:sym typeface="Verdana"/>
            </a:endParaRPr>
          </a:p>
          <a:p>
            <a:pPr indent="0" lvl="0" marL="0" rtl="0" algn="just">
              <a:spcBef>
                <a:spcPts val="640"/>
              </a:spcBef>
              <a:spcAft>
                <a:spcPts val="0"/>
              </a:spcAft>
              <a:buNone/>
            </a:pPr>
            <a:r>
              <a:t/>
            </a:r>
            <a:endParaRPr sz="1900">
              <a:solidFill>
                <a:schemeClr val="dk1"/>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229b04abe68_0_0"/>
          <p:cNvSpPr txBox="1"/>
          <p:nvPr>
            <p:ph type="ctrTitle"/>
          </p:nvPr>
        </p:nvSpPr>
        <p:spPr>
          <a:xfrm>
            <a:off x="685800" y="5224050"/>
            <a:ext cx="7310700" cy="704100"/>
          </a:xfrm>
          <a:prstGeom prst="rect">
            <a:avLst/>
          </a:prstGeom>
        </p:spPr>
        <p:txBody>
          <a:bodyPr anchorCtr="0" anchor="ctr" bIns="45700" lIns="91425" spcFirstLastPara="1" rIns="91425" wrap="square" tIns="45700">
            <a:normAutofit/>
          </a:bodyPr>
          <a:lstStyle/>
          <a:p>
            <a:pPr indent="0" lvl="0" marL="0" rtl="0" algn="ctr">
              <a:spcBef>
                <a:spcPts val="640"/>
              </a:spcBef>
              <a:spcAft>
                <a:spcPts val="0"/>
              </a:spcAft>
              <a:buClr>
                <a:schemeClr val="dk1"/>
              </a:buClr>
              <a:buSzPts val="990"/>
              <a:buFont typeface="Arial"/>
              <a:buNone/>
            </a:pPr>
            <a:r>
              <a:rPr lang="en-US" sz="1800"/>
              <a:t>fig-changing the input values and storing the trained data in file</a:t>
            </a:r>
            <a:endParaRPr sz="1800"/>
          </a:p>
        </p:txBody>
      </p:sp>
      <p:sp>
        <p:nvSpPr>
          <p:cNvPr id="190" name="Google Shape;190;g229b04abe68_0_0"/>
          <p:cNvSpPr txBox="1"/>
          <p:nvPr>
            <p:ph idx="1" type="subTitle"/>
          </p:nvPr>
        </p:nvSpPr>
        <p:spPr>
          <a:xfrm>
            <a:off x="601425" y="533925"/>
            <a:ext cx="7691100" cy="4690200"/>
          </a:xfrm>
          <a:prstGeom prst="rect">
            <a:avLst/>
          </a:prstGeom>
        </p:spPr>
        <p:txBody>
          <a:bodyPr anchorCtr="0" anchor="t" bIns="45700" lIns="91425" spcFirstLastPara="1" rIns="91425" wrap="square" tIns="45700">
            <a:normAutofit/>
          </a:bodyPr>
          <a:lstStyle/>
          <a:p>
            <a:pPr indent="0" lvl="0" marL="0" rtl="0" algn="ctr">
              <a:spcBef>
                <a:spcPts val="640"/>
              </a:spcBef>
              <a:spcAft>
                <a:spcPts val="0"/>
              </a:spcAft>
              <a:buNone/>
            </a:pPr>
            <a:r>
              <a:t/>
            </a:r>
            <a:endParaRPr/>
          </a:p>
        </p:txBody>
      </p:sp>
      <p:pic>
        <p:nvPicPr>
          <p:cNvPr id="191" name="Google Shape;191;g229b04abe68_0_0"/>
          <p:cNvPicPr preferRelativeResize="0"/>
          <p:nvPr/>
        </p:nvPicPr>
        <p:blipFill rotWithShape="1">
          <a:blip r:embed="rId3">
            <a:alphaModFix/>
          </a:blip>
          <a:srcRect b="12570" l="10796" r="12197" t="44439"/>
          <a:stretch/>
        </p:blipFill>
        <p:spPr>
          <a:xfrm>
            <a:off x="831525" y="2674162"/>
            <a:ext cx="6873350" cy="2549899"/>
          </a:xfrm>
          <a:prstGeom prst="rect">
            <a:avLst/>
          </a:prstGeom>
          <a:noFill/>
          <a:ln>
            <a:noFill/>
          </a:ln>
        </p:spPr>
      </p:pic>
      <p:pic>
        <p:nvPicPr>
          <p:cNvPr id="192" name="Google Shape;192;g229b04abe68_0_0"/>
          <p:cNvPicPr preferRelativeResize="0"/>
          <p:nvPr/>
        </p:nvPicPr>
        <p:blipFill rotWithShape="1">
          <a:blip r:embed="rId4">
            <a:alphaModFix/>
          </a:blip>
          <a:srcRect b="45833" l="11793" r="13041" t="29409"/>
          <a:stretch/>
        </p:blipFill>
        <p:spPr>
          <a:xfrm>
            <a:off x="831525" y="533925"/>
            <a:ext cx="6873350" cy="1887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1f9b28bbcf3_2_10"/>
          <p:cNvSpPr txBox="1"/>
          <p:nvPr>
            <p:ph type="ctrTitle"/>
          </p:nvPr>
        </p:nvSpPr>
        <p:spPr>
          <a:xfrm>
            <a:off x="685800" y="302550"/>
            <a:ext cx="7772400" cy="7899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3600">
                <a:solidFill>
                  <a:srgbClr val="FF0000"/>
                </a:solidFill>
              </a:rPr>
              <a:t>Result</a:t>
            </a:r>
            <a:endParaRPr b="1" sz="3600">
              <a:solidFill>
                <a:srgbClr val="FF0000"/>
              </a:solidFill>
            </a:endParaRPr>
          </a:p>
        </p:txBody>
      </p:sp>
      <p:sp>
        <p:nvSpPr>
          <p:cNvPr id="198" name="Google Shape;198;g1f9b28bbcf3_2_10"/>
          <p:cNvSpPr txBox="1"/>
          <p:nvPr>
            <p:ph idx="1" type="subTitle"/>
          </p:nvPr>
        </p:nvSpPr>
        <p:spPr>
          <a:xfrm>
            <a:off x="730625" y="1092450"/>
            <a:ext cx="7651500" cy="51774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rPr b="1" lang="en-US" sz="1800">
                <a:solidFill>
                  <a:schemeClr val="dk1"/>
                </a:solidFill>
                <a:latin typeface="Verdana"/>
                <a:ea typeface="Verdana"/>
                <a:cs typeface="Verdana"/>
                <a:sym typeface="Verdana"/>
              </a:rPr>
              <a:t>Final Output when max tile is reached:</a:t>
            </a:r>
            <a:endParaRPr b="1" sz="1800">
              <a:solidFill>
                <a:schemeClr val="dk1"/>
              </a:solidFill>
              <a:latin typeface="Verdana"/>
              <a:ea typeface="Verdana"/>
              <a:cs typeface="Verdana"/>
              <a:sym typeface="Verdana"/>
            </a:endParaRPr>
          </a:p>
          <a:p>
            <a:pPr indent="0" lvl="0" marL="0" rtl="0" algn="l">
              <a:spcBef>
                <a:spcPts val="640"/>
              </a:spcBef>
              <a:spcAft>
                <a:spcPts val="0"/>
              </a:spcAft>
              <a:buNone/>
            </a:pPr>
            <a:r>
              <a:rPr b="1" lang="en-US" sz="1800">
                <a:solidFill>
                  <a:schemeClr val="dk1"/>
                </a:solidFill>
                <a:latin typeface="Verdana"/>
                <a:ea typeface="Verdana"/>
                <a:cs typeface="Verdana"/>
                <a:sym typeface="Verdana"/>
              </a:rPr>
              <a:t>                 </a:t>
            </a:r>
            <a:endParaRPr b="1" sz="1800">
              <a:solidFill>
                <a:schemeClr val="dk1"/>
              </a:solidFill>
              <a:latin typeface="Verdana"/>
              <a:ea typeface="Verdana"/>
              <a:cs typeface="Verdana"/>
              <a:sym typeface="Verdana"/>
            </a:endParaRPr>
          </a:p>
        </p:txBody>
      </p:sp>
      <p:pic>
        <p:nvPicPr>
          <p:cNvPr id="199" name="Google Shape;199;g1f9b28bbcf3_2_10"/>
          <p:cNvPicPr preferRelativeResize="0"/>
          <p:nvPr/>
        </p:nvPicPr>
        <p:blipFill>
          <a:blip r:embed="rId3">
            <a:alphaModFix/>
          </a:blip>
          <a:stretch>
            <a:fillRect/>
          </a:stretch>
        </p:blipFill>
        <p:spPr>
          <a:xfrm>
            <a:off x="2412075" y="1652850"/>
            <a:ext cx="4227400" cy="40117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2237eaeb132_0_7"/>
          <p:cNvSpPr txBox="1"/>
          <p:nvPr>
            <p:ph idx="1" type="subTitle"/>
          </p:nvPr>
        </p:nvSpPr>
        <p:spPr>
          <a:xfrm>
            <a:off x="386600" y="252125"/>
            <a:ext cx="8404500" cy="63201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rPr lang="en-US" sz="1800">
                <a:solidFill>
                  <a:schemeClr val="dk1"/>
                </a:solidFill>
                <a:latin typeface="Verdana"/>
                <a:ea typeface="Verdana"/>
                <a:cs typeface="Verdana"/>
                <a:sym typeface="Verdana"/>
              </a:rPr>
              <a:t>   Graph of various game plays with different outcomes</a:t>
            </a:r>
            <a:endParaRPr sz="1800">
              <a:solidFill>
                <a:schemeClr val="dk1"/>
              </a:solidFill>
              <a:latin typeface="Verdana"/>
              <a:ea typeface="Verdana"/>
              <a:cs typeface="Verdana"/>
              <a:sym typeface="Verdana"/>
            </a:endParaRPr>
          </a:p>
          <a:p>
            <a:pPr indent="0" lvl="0" marL="0" rtl="0" algn="l">
              <a:spcBef>
                <a:spcPts val="640"/>
              </a:spcBef>
              <a:spcAft>
                <a:spcPts val="0"/>
              </a:spcAft>
              <a:buNone/>
            </a:pPr>
            <a:r>
              <a:rPr lang="en-US" sz="1800">
                <a:solidFill>
                  <a:schemeClr val="dk1"/>
                </a:solidFill>
                <a:latin typeface="Verdana"/>
                <a:ea typeface="Verdana"/>
                <a:cs typeface="Verdana"/>
                <a:sym typeface="Verdana"/>
              </a:rPr>
              <a:t> </a:t>
            </a:r>
            <a:endParaRPr sz="1800">
              <a:solidFill>
                <a:schemeClr val="dk1"/>
              </a:solidFill>
              <a:latin typeface="Verdana"/>
              <a:ea typeface="Verdana"/>
              <a:cs typeface="Verdana"/>
              <a:sym typeface="Verdana"/>
            </a:endParaRPr>
          </a:p>
          <a:p>
            <a:pPr indent="0" lvl="0" marL="0" rtl="0" algn="l">
              <a:spcBef>
                <a:spcPts val="640"/>
              </a:spcBef>
              <a:spcAft>
                <a:spcPts val="0"/>
              </a:spcAft>
              <a:buNone/>
            </a:pPr>
            <a:r>
              <a:t/>
            </a:r>
            <a:endParaRPr sz="1800">
              <a:solidFill>
                <a:schemeClr val="dk1"/>
              </a:solidFill>
              <a:latin typeface="Verdana"/>
              <a:ea typeface="Verdana"/>
              <a:cs typeface="Verdana"/>
              <a:sym typeface="Verdana"/>
            </a:endParaRPr>
          </a:p>
          <a:p>
            <a:pPr indent="0" lvl="0" marL="0" rtl="0" algn="l">
              <a:spcBef>
                <a:spcPts val="640"/>
              </a:spcBef>
              <a:spcAft>
                <a:spcPts val="0"/>
              </a:spcAft>
              <a:buNone/>
            </a:pPr>
            <a:r>
              <a:t/>
            </a:r>
            <a:endParaRPr sz="1800">
              <a:solidFill>
                <a:schemeClr val="dk1"/>
              </a:solidFill>
              <a:latin typeface="Verdana"/>
              <a:ea typeface="Verdana"/>
              <a:cs typeface="Verdana"/>
              <a:sym typeface="Verdana"/>
            </a:endParaRPr>
          </a:p>
          <a:p>
            <a:pPr indent="0" lvl="0" marL="0" rtl="0" algn="l">
              <a:spcBef>
                <a:spcPts val="640"/>
              </a:spcBef>
              <a:spcAft>
                <a:spcPts val="0"/>
              </a:spcAft>
              <a:buNone/>
            </a:pPr>
            <a:r>
              <a:t/>
            </a:r>
            <a:endParaRPr sz="1800">
              <a:solidFill>
                <a:schemeClr val="dk1"/>
              </a:solidFill>
              <a:latin typeface="Verdana"/>
              <a:ea typeface="Verdana"/>
              <a:cs typeface="Verdana"/>
              <a:sym typeface="Verdana"/>
            </a:endParaRPr>
          </a:p>
          <a:p>
            <a:pPr indent="0" lvl="0" marL="0" rtl="0" algn="l">
              <a:spcBef>
                <a:spcPts val="640"/>
              </a:spcBef>
              <a:spcAft>
                <a:spcPts val="0"/>
              </a:spcAft>
              <a:buNone/>
            </a:pPr>
            <a:r>
              <a:t/>
            </a:r>
            <a:endParaRPr sz="1800">
              <a:solidFill>
                <a:schemeClr val="dk1"/>
              </a:solidFill>
              <a:latin typeface="Verdana"/>
              <a:ea typeface="Verdana"/>
              <a:cs typeface="Verdana"/>
              <a:sym typeface="Verdana"/>
            </a:endParaRPr>
          </a:p>
          <a:p>
            <a:pPr indent="0" lvl="0" marL="0" rtl="0" algn="l">
              <a:spcBef>
                <a:spcPts val="640"/>
              </a:spcBef>
              <a:spcAft>
                <a:spcPts val="0"/>
              </a:spcAft>
              <a:buNone/>
            </a:pPr>
            <a:r>
              <a:t/>
            </a:r>
            <a:endParaRPr sz="1800">
              <a:solidFill>
                <a:schemeClr val="dk1"/>
              </a:solidFill>
              <a:latin typeface="Verdana"/>
              <a:ea typeface="Verdana"/>
              <a:cs typeface="Verdana"/>
              <a:sym typeface="Verdana"/>
            </a:endParaRPr>
          </a:p>
          <a:p>
            <a:pPr indent="0" lvl="0" marL="0" rtl="0" algn="l">
              <a:spcBef>
                <a:spcPts val="640"/>
              </a:spcBef>
              <a:spcAft>
                <a:spcPts val="0"/>
              </a:spcAft>
              <a:buNone/>
            </a:pPr>
            <a:r>
              <a:t/>
            </a:r>
            <a:endParaRPr sz="1800">
              <a:solidFill>
                <a:schemeClr val="dk1"/>
              </a:solidFill>
              <a:latin typeface="Verdana"/>
              <a:ea typeface="Verdana"/>
              <a:cs typeface="Verdana"/>
              <a:sym typeface="Verdana"/>
            </a:endParaRPr>
          </a:p>
          <a:p>
            <a:pPr indent="0" lvl="0" marL="0" rtl="0" algn="l">
              <a:spcBef>
                <a:spcPts val="640"/>
              </a:spcBef>
              <a:spcAft>
                <a:spcPts val="0"/>
              </a:spcAft>
              <a:buNone/>
            </a:pPr>
            <a:r>
              <a:t/>
            </a:r>
            <a:endParaRPr sz="1800">
              <a:solidFill>
                <a:schemeClr val="dk1"/>
              </a:solidFill>
              <a:latin typeface="Verdana"/>
              <a:ea typeface="Verdana"/>
              <a:cs typeface="Verdana"/>
              <a:sym typeface="Verdana"/>
            </a:endParaRPr>
          </a:p>
          <a:p>
            <a:pPr indent="0" lvl="0" marL="0" rtl="0" algn="l">
              <a:spcBef>
                <a:spcPts val="640"/>
              </a:spcBef>
              <a:spcAft>
                <a:spcPts val="0"/>
              </a:spcAft>
              <a:buNone/>
            </a:pPr>
            <a:r>
              <a:rPr lang="en-US" sz="1800">
                <a:solidFill>
                  <a:schemeClr val="dk1"/>
                </a:solidFill>
                <a:latin typeface="Verdana"/>
                <a:ea typeface="Verdana"/>
                <a:cs typeface="Verdana"/>
                <a:sym typeface="Verdana"/>
              </a:rPr>
              <a:t>   Graph of moves between agent and player </a:t>
            </a:r>
            <a:endParaRPr sz="1800">
              <a:solidFill>
                <a:schemeClr val="dk1"/>
              </a:solidFill>
              <a:latin typeface="Verdana"/>
              <a:ea typeface="Verdana"/>
              <a:cs typeface="Verdana"/>
              <a:sym typeface="Verdana"/>
            </a:endParaRPr>
          </a:p>
          <a:p>
            <a:pPr indent="0" lvl="0" marL="0" rtl="0" algn="l">
              <a:spcBef>
                <a:spcPts val="640"/>
              </a:spcBef>
              <a:spcAft>
                <a:spcPts val="0"/>
              </a:spcAft>
              <a:buNone/>
            </a:pPr>
            <a:r>
              <a:rPr lang="en-US" sz="1800">
                <a:solidFill>
                  <a:schemeClr val="dk1"/>
                </a:solidFill>
                <a:latin typeface="Verdana"/>
                <a:ea typeface="Verdana"/>
                <a:cs typeface="Verdana"/>
                <a:sym typeface="Verdana"/>
              </a:rPr>
              <a:t>          </a:t>
            </a:r>
            <a:endParaRPr sz="1800">
              <a:solidFill>
                <a:schemeClr val="dk1"/>
              </a:solidFill>
              <a:latin typeface="Verdana"/>
              <a:ea typeface="Verdana"/>
              <a:cs typeface="Verdana"/>
              <a:sym typeface="Verdana"/>
            </a:endParaRPr>
          </a:p>
        </p:txBody>
      </p:sp>
      <p:pic>
        <p:nvPicPr>
          <p:cNvPr id="205" name="Google Shape;205;g2237eaeb132_0_7"/>
          <p:cNvPicPr preferRelativeResize="0"/>
          <p:nvPr/>
        </p:nvPicPr>
        <p:blipFill>
          <a:blip r:embed="rId3">
            <a:alphaModFix/>
          </a:blip>
          <a:stretch>
            <a:fillRect/>
          </a:stretch>
        </p:blipFill>
        <p:spPr>
          <a:xfrm>
            <a:off x="2592188" y="860625"/>
            <a:ext cx="3724275" cy="2400300"/>
          </a:xfrm>
          <a:prstGeom prst="rect">
            <a:avLst/>
          </a:prstGeom>
          <a:noFill/>
          <a:ln>
            <a:noFill/>
          </a:ln>
        </p:spPr>
      </p:pic>
      <p:pic>
        <p:nvPicPr>
          <p:cNvPr id="206" name="Google Shape;206;g2237eaeb132_0_7"/>
          <p:cNvPicPr preferRelativeResize="0"/>
          <p:nvPr/>
        </p:nvPicPr>
        <p:blipFill>
          <a:blip r:embed="rId4">
            <a:alphaModFix/>
          </a:blip>
          <a:stretch>
            <a:fillRect/>
          </a:stretch>
        </p:blipFill>
        <p:spPr>
          <a:xfrm>
            <a:off x="2592200" y="3976975"/>
            <a:ext cx="3724275" cy="24003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1f9b28bbcf3_2_5"/>
          <p:cNvSpPr txBox="1"/>
          <p:nvPr>
            <p:ph type="ctrTitle"/>
          </p:nvPr>
        </p:nvSpPr>
        <p:spPr>
          <a:xfrm>
            <a:off x="685800" y="235325"/>
            <a:ext cx="7772400" cy="7731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3600">
                <a:solidFill>
                  <a:srgbClr val="FF0000"/>
                </a:solidFill>
              </a:rPr>
              <a:t>Conclusion</a:t>
            </a:r>
            <a:endParaRPr b="1" sz="3600">
              <a:solidFill>
                <a:srgbClr val="FF0000"/>
              </a:solidFill>
            </a:endParaRPr>
          </a:p>
        </p:txBody>
      </p:sp>
      <p:sp>
        <p:nvSpPr>
          <p:cNvPr id="212" name="Google Shape;212;g1f9b28bbcf3_2_5"/>
          <p:cNvSpPr txBox="1"/>
          <p:nvPr>
            <p:ph idx="1" type="subTitle"/>
          </p:nvPr>
        </p:nvSpPr>
        <p:spPr>
          <a:xfrm>
            <a:off x="685800" y="1075775"/>
            <a:ext cx="7772400" cy="5244600"/>
          </a:xfrm>
          <a:prstGeom prst="rect">
            <a:avLst/>
          </a:prstGeom>
        </p:spPr>
        <p:txBody>
          <a:bodyPr anchorCtr="0" anchor="t" bIns="45700" lIns="91425" spcFirstLastPara="1" rIns="91425" wrap="square" tIns="45700">
            <a:noAutofit/>
          </a:bodyPr>
          <a:lstStyle/>
          <a:p>
            <a:pPr indent="-342900" lvl="0" marL="457200" marR="396240" rtl="0" algn="just">
              <a:lnSpc>
                <a:spcPct val="150000"/>
              </a:lnSpc>
              <a:spcBef>
                <a:spcPts val="0"/>
              </a:spcBef>
              <a:spcAft>
                <a:spcPts val="0"/>
              </a:spcAft>
              <a:buClr>
                <a:schemeClr val="dk1"/>
              </a:buClr>
              <a:buSzPts val="1800"/>
              <a:buFont typeface="Verdana"/>
              <a:buChar char="●"/>
            </a:pPr>
            <a:r>
              <a:rPr lang="en-US" sz="1800">
                <a:solidFill>
                  <a:schemeClr val="dk1"/>
                </a:solidFill>
                <a:latin typeface="Verdana"/>
                <a:ea typeface="Verdana"/>
                <a:cs typeface="Verdana"/>
                <a:sym typeface="Verdana"/>
              </a:rPr>
              <a:t>In conclusion, creating an agent to play the game 2048 using deep reinforcement learning is an exciting </a:t>
            </a:r>
            <a:r>
              <a:rPr lang="en-US" sz="1800">
                <a:solidFill>
                  <a:schemeClr val="dk1"/>
                </a:solidFill>
                <a:latin typeface="Verdana"/>
                <a:ea typeface="Verdana"/>
                <a:cs typeface="Verdana"/>
                <a:sym typeface="Verdana"/>
              </a:rPr>
              <a:t>and </a:t>
            </a:r>
            <a:r>
              <a:rPr lang="en-US" sz="1800">
                <a:solidFill>
                  <a:schemeClr val="dk1"/>
                </a:solidFill>
                <a:latin typeface="Verdana"/>
                <a:ea typeface="Verdana"/>
                <a:cs typeface="Verdana"/>
                <a:sym typeface="Verdana"/>
              </a:rPr>
              <a:t>difficult task in the field of artificial intelligence. We have demonstrated the feasibility of using reinforcement learning to train an agent to play 2048 and achieve a high score through our research. </a:t>
            </a:r>
            <a:endParaRPr sz="1800">
              <a:solidFill>
                <a:schemeClr val="dk1"/>
              </a:solidFill>
              <a:latin typeface="Verdana"/>
              <a:ea typeface="Verdana"/>
              <a:cs typeface="Verdana"/>
              <a:sym typeface="Verdana"/>
            </a:endParaRPr>
          </a:p>
          <a:p>
            <a:pPr indent="-342900" lvl="0" marL="457200" marR="396240" rtl="0" algn="just">
              <a:lnSpc>
                <a:spcPct val="150000"/>
              </a:lnSpc>
              <a:spcBef>
                <a:spcPts val="0"/>
              </a:spcBef>
              <a:spcAft>
                <a:spcPts val="0"/>
              </a:spcAft>
              <a:buClr>
                <a:schemeClr val="dk1"/>
              </a:buClr>
              <a:buSzPts val="1800"/>
              <a:buFont typeface="Verdana"/>
              <a:buChar char="●"/>
            </a:pPr>
            <a:r>
              <a:rPr lang="en-US" sz="1800">
                <a:solidFill>
                  <a:schemeClr val="dk1"/>
                </a:solidFill>
                <a:latin typeface="Verdana"/>
                <a:ea typeface="Verdana"/>
                <a:cs typeface="Verdana"/>
                <a:sym typeface="Verdana"/>
              </a:rPr>
              <a:t>Our research builds on previous research in the field by employing deep neural networks to learn complex patterns in the game and make informed decisions.</a:t>
            </a:r>
            <a:endParaRPr sz="1800">
              <a:solidFill>
                <a:schemeClr val="dk1"/>
              </a:solidFill>
              <a:latin typeface="Verdana"/>
              <a:ea typeface="Verdana"/>
              <a:cs typeface="Verdana"/>
              <a:sym typeface="Verdana"/>
            </a:endParaRPr>
          </a:p>
          <a:p>
            <a:pPr indent="-342900" lvl="0" marL="457200" marR="396240" rtl="0" algn="just">
              <a:lnSpc>
                <a:spcPct val="150000"/>
              </a:lnSpc>
              <a:spcBef>
                <a:spcPts val="0"/>
              </a:spcBef>
              <a:spcAft>
                <a:spcPts val="0"/>
              </a:spcAft>
              <a:buClr>
                <a:schemeClr val="dk1"/>
              </a:buClr>
              <a:buSzPts val="1800"/>
              <a:buFont typeface="Verdana"/>
              <a:buChar char="●"/>
            </a:pPr>
            <a:r>
              <a:rPr lang="en-US" sz="1800">
                <a:solidFill>
                  <a:schemeClr val="dk1"/>
                </a:solidFill>
                <a:latin typeface="Verdana"/>
                <a:ea typeface="Verdana"/>
                <a:cs typeface="Verdana"/>
                <a:sym typeface="Verdana"/>
              </a:rPr>
              <a:t>Our findings show that deep reinforcement learning can be an effective method for teaching agents to play 2048 and achieve high scores, shedding new light on the application of reinforcement learning to game play.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5"/>
          <p:cNvSpPr txBox="1"/>
          <p:nvPr>
            <p:ph type="title"/>
          </p:nvPr>
        </p:nvSpPr>
        <p:spPr>
          <a:xfrm>
            <a:off x="457200" y="183200"/>
            <a:ext cx="8229600" cy="791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US" sz="3600">
                <a:solidFill>
                  <a:srgbClr val="FF0000"/>
                </a:solidFill>
              </a:rPr>
              <a:t>References</a:t>
            </a:r>
            <a:endParaRPr b="1" sz="3600">
              <a:solidFill>
                <a:srgbClr val="FF0000"/>
              </a:solidFill>
            </a:endParaRPr>
          </a:p>
        </p:txBody>
      </p:sp>
      <p:sp>
        <p:nvSpPr>
          <p:cNvPr id="218" name="Google Shape;218;p15"/>
          <p:cNvSpPr txBox="1"/>
          <p:nvPr>
            <p:ph idx="1" type="body"/>
          </p:nvPr>
        </p:nvSpPr>
        <p:spPr>
          <a:xfrm>
            <a:off x="457200" y="974900"/>
            <a:ext cx="8229600" cy="5529900"/>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360"/>
              </a:spcBef>
              <a:spcAft>
                <a:spcPts val="0"/>
              </a:spcAft>
              <a:buSzPts val="1800"/>
              <a:buFont typeface="Verdana"/>
              <a:buChar char="•"/>
            </a:pPr>
            <a:r>
              <a:rPr lang="en-US" sz="1800">
                <a:latin typeface="Verdana"/>
                <a:ea typeface="Verdana"/>
                <a:cs typeface="Verdana"/>
                <a:sym typeface="Verdana"/>
              </a:rPr>
              <a:t>Naoki Kondo, Kiminori Matsuzaki, ”Playing Game 2048 with Deep Convolutional Neural Networks Trained by Supervised Learning”, Journal of Information Processing, Vol.27, 340-347,(April 2019)</a:t>
            </a:r>
            <a:endParaRPr sz="1800">
              <a:latin typeface="Verdana"/>
              <a:ea typeface="Verdana"/>
              <a:cs typeface="Verdana"/>
              <a:sym typeface="Verdana"/>
            </a:endParaRPr>
          </a:p>
          <a:p>
            <a:pPr indent="-285750" lvl="0" marL="285750" rtl="0" algn="l">
              <a:lnSpc>
                <a:spcPct val="100000"/>
              </a:lnSpc>
              <a:spcBef>
                <a:spcPts val="360"/>
              </a:spcBef>
              <a:spcAft>
                <a:spcPts val="0"/>
              </a:spcAft>
              <a:buSzPts val="1800"/>
              <a:buFont typeface="Verdana"/>
              <a:buChar char="•"/>
            </a:pPr>
            <a:r>
              <a:rPr lang="en-US" sz="1800">
                <a:latin typeface="Verdana"/>
                <a:ea typeface="Verdana"/>
                <a:cs typeface="Verdana"/>
                <a:sym typeface="Verdana"/>
              </a:rPr>
              <a:t>David, O.E., Netanyahu, N.S. and Wolf, L.: DeepChess: End-to- End Deep Neural Network for Automatic Learning in Chess, Interna-tional Conference on Artificial Neural Networks and Machine Learn-ing (ICANN 2016), pp.88-96 (2016).</a:t>
            </a:r>
            <a:endParaRPr sz="1800">
              <a:latin typeface="Verdana"/>
              <a:ea typeface="Verdana"/>
              <a:cs typeface="Verdana"/>
              <a:sym typeface="Verdana"/>
            </a:endParaRPr>
          </a:p>
          <a:p>
            <a:pPr indent="-285750" lvl="0" marL="285750" rtl="0" algn="l">
              <a:lnSpc>
                <a:spcPct val="100000"/>
              </a:lnSpc>
              <a:spcBef>
                <a:spcPts val="360"/>
              </a:spcBef>
              <a:spcAft>
                <a:spcPts val="0"/>
              </a:spcAft>
              <a:buSzPts val="1800"/>
              <a:buFont typeface="Verdana"/>
              <a:buChar char="•"/>
            </a:pPr>
            <a:r>
              <a:rPr lang="en-US" sz="1800">
                <a:latin typeface="Verdana"/>
                <a:ea typeface="Verdana"/>
                <a:cs typeface="Verdana"/>
                <a:sym typeface="Verdana"/>
              </a:rPr>
              <a:t>Jaśkowski, W.: Mastering 2048 with Delayed Temporal Coherence Learning. Multi-Stage Weight Promotion, Redundant Encoding and Carousel Shaping, IEEE Trans. Computational Intelligence and Al in Games, Vol. 10, No.1, pp.3-14 (2018).</a:t>
            </a:r>
            <a:endParaRPr sz="1800">
              <a:latin typeface="Verdana"/>
              <a:ea typeface="Verdana"/>
              <a:cs typeface="Verdana"/>
              <a:sym typeface="Verdana"/>
            </a:endParaRPr>
          </a:p>
          <a:p>
            <a:pPr indent="-285750" lvl="0" marL="285750" rtl="0" algn="l">
              <a:lnSpc>
                <a:spcPct val="100000"/>
              </a:lnSpc>
              <a:spcBef>
                <a:spcPts val="360"/>
              </a:spcBef>
              <a:spcAft>
                <a:spcPts val="0"/>
              </a:spcAft>
              <a:buSzPts val="1800"/>
              <a:buFont typeface="Verdana"/>
              <a:buChar char="•"/>
            </a:pPr>
            <a:r>
              <a:rPr lang="en-US" sz="1800">
                <a:latin typeface="Verdana"/>
                <a:ea typeface="Verdana"/>
                <a:cs typeface="Verdana"/>
                <a:sym typeface="Verdana"/>
              </a:rPr>
              <a:t>Silver, D., Schrittwieser, J., Simonyan, K., Antonoglou, L., Huang, A., Guez, A., Hubert, T., Baker, L., Lai, M., Bolton, A., Chen, Y., Lillicrap, T., Hui, F., Sifre, L., van den Driessche, G., Graepel, T. and Hassabis, D.: Mastering the game of Go without human knowledge, Nature, Vol.550, pp.354-359 (2017).</a:t>
            </a:r>
            <a:endParaRPr sz="1800">
              <a:latin typeface="Verdana"/>
              <a:ea typeface="Verdana"/>
              <a:cs typeface="Verdana"/>
              <a:sym typeface="Verdana"/>
            </a:endParaRPr>
          </a:p>
          <a:p>
            <a:pPr indent="-285750" lvl="0" marL="285750" rtl="0" algn="l">
              <a:lnSpc>
                <a:spcPct val="100000"/>
              </a:lnSpc>
              <a:spcBef>
                <a:spcPts val="360"/>
              </a:spcBef>
              <a:spcAft>
                <a:spcPts val="0"/>
              </a:spcAft>
              <a:buSzPts val="1800"/>
              <a:buFont typeface="Verdana"/>
              <a:buChar char="•"/>
            </a:pPr>
            <a:r>
              <a:rPr lang="en-US" sz="1800">
                <a:latin typeface="Verdana"/>
                <a:ea typeface="Verdana"/>
                <a:cs typeface="Verdana"/>
                <a:sym typeface="Verdana"/>
              </a:rPr>
              <a:t>Boris, T. and Šuković Goran: Evolving Neural Network to Play Game2048, Proc. 24th Telecommunications forum (TELFOR 2016), IEEE(2016).</a:t>
            </a:r>
            <a:endParaRPr sz="1800">
              <a:latin typeface="Verdana"/>
              <a:ea typeface="Verdana"/>
              <a:cs typeface="Verdana"/>
              <a:sym typeface="Verdan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 name="Shape 222"/>
        <p:cNvGrpSpPr/>
        <p:nvPr/>
      </p:nvGrpSpPr>
      <p:grpSpPr>
        <a:xfrm>
          <a:off x="0" y="0"/>
          <a:ext cx="0" cy="0"/>
          <a:chOff x="0" y="0"/>
          <a:chExt cx="0" cy="0"/>
        </a:xfrm>
      </p:grpSpPr>
      <p:sp>
        <p:nvSpPr>
          <p:cNvPr id="223" name="Google Shape;223;p16"/>
          <p:cNvSpPr txBox="1"/>
          <p:nvPr>
            <p:ph idx="1" type="body"/>
          </p:nvPr>
        </p:nvSpPr>
        <p:spPr>
          <a:xfrm>
            <a:off x="457200" y="762000"/>
            <a:ext cx="8229600" cy="5364163"/>
          </a:xfrm>
          <a:prstGeom prst="rect">
            <a:avLst/>
          </a:prstGeom>
          <a:noFill/>
          <a:ln>
            <a:noFill/>
          </a:ln>
        </p:spPr>
        <p:txBody>
          <a:bodyPr anchorCtr="0" anchor="t" bIns="45700" lIns="91425" spcFirstLastPara="1" rIns="91425" wrap="square" tIns="45700">
            <a:normAutofit/>
          </a:bodyPr>
          <a:lstStyle/>
          <a:p>
            <a:pPr indent="-342900" lvl="0" marL="342900" rtl="0" algn="ctr">
              <a:lnSpc>
                <a:spcPct val="100000"/>
              </a:lnSpc>
              <a:spcBef>
                <a:spcPts val="0"/>
              </a:spcBef>
              <a:spcAft>
                <a:spcPts val="0"/>
              </a:spcAft>
              <a:buClr>
                <a:schemeClr val="dk1"/>
              </a:buClr>
              <a:buSzPts val="3200"/>
              <a:buNone/>
            </a:pPr>
            <a:r>
              <a:t/>
            </a:r>
            <a:endParaRPr b="1">
              <a:solidFill>
                <a:srgbClr val="FF0000"/>
              </a:solidFill>
              <a:latin typeface="Times New Roman"/>
              <a:ea typeface="Times New Roman"/>
              <a:cs typeface="Times New Roman"/>
              <a:sym typeface="Times New Roman"/>
            </a:endParaRPr>
          </a:p>
          <a:p>
            <a:pPr indent="-342900" lvl="0" marL="342900" rtl="0" algn="ctr">
              <a:lnSpc>
                <a:spcPct val="100000"/>
              </a:lnSpc>
              <a:spcBef>
                <a:spcPts val="640"/>
              </a:spcBef>
              <a:spcAft>
                <a:spcPts val="0"/>
              </a:spcAft>
              <a:buClr>
                <a:schemeClr val="dk1"/>
              </a:buClr>
              <a:buSzPts val="3200"/>
              <a:buNone/>
            </a:pPr>
            <a:r>
              <a:t/>
            </a:r>
            <a:endParaRPr b="1">
              <a:solidFill>
                <a:srgbClr val="FF0000"/>
              </a:solidFill>
              <a:latin typeface="Times New Roman"/>
              <a:ea typeface="Times New Roman"/>
              <a:cs typeface="Times New Roman"/>
              <a:sym typeface="Times New Roman"/>
            </a:endParaRPr>
          </a:p>
          <a:p>
            <a:pPr indent="-342900" lvl="0" marL="342900" rtl="0" algn="ctr">
              <a:lnSpc>
                <a:spcPct val="100000"/>
              </a:lnSpc>
              <a:spcBef>
                <a:spcPts val="0"/>
              </a:spcBef>
              <a:spcAft>
                <a:spcPts val="0"/>
              </a:spcAft>
              <a:buClr>
                <a:schemeClr val="dk1"/>
              </a:buClr>
              <a:buSzPts val="3600"/>
              <a:buNone/>
            </a:pPr>
            <a:r>
              <a:t/>
            </a:r>
            <a:endParaRPr b="1" sz="3600">
              <a:solidFill>
                <a:srgbClr val="FF0000"/>
              </a:solidFill>
              <a:latin typeface="Times New Roman"/>
              <a:ea typeface="Times New Roman"/>
              <a:cs typeface="Times New Roman"/>
              <a:sym typeface="Times New Roman"/>
            </a:endParaRPr>
          </a:p>
          <a:p>
            <a:pPr indent="-342900" lvl="0" marL="342900" rtl="0" algn="ctr">
              <a:lnSpc>
                <a:spcPct val="100000"/>
              </a:lnSpc>
              <a:spcBef>
                <a:spcPts val="0"/>
              </a:spcBef>
              <a:spcAft>
                <a:spcPts val="0"/>
              </a:spcAft>
              <a:buClr>
                <a:srgbClr val="FF0000"/>
              </a:buClr>
              <a:buSzPts val="3600"/>
              <a:buNone/>
            </a:pPr>
            <a:r>
              <a:rPr b="1" lang="en-US" sz="3600">
                <a:solidFill>
                  <a:srgbClr val="FF0000"/>
                </a:solidFill>
                <a:latin typeface="Times New Roman"/>
                <a:ea typeface="Times New Roman"/>
                <a:cs typeface="Times New Roman"/>
                <a:sym typeface="Times New Roman"/>
              </a:rPr>
              <a:t>Queries</a:t>
            </a:r>
            <a:endParaRPr b="1" sz="3600">
              <a:solidFill>
                <a:srgbClr val="FF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ctr">
              <a:lnSpc>
                <a:spcPct val="100000"/>
              </a:lnSpc>
              <a:spcBef>
                <a:spcPts val="0"/>
              </a:spcBef>
              <a:spcAft>
                <a:spcPts val="0"/>
              </a:spcAft>
              <a:buClr>
                <a:schemeClr val="dk1"/>
              </a:buClr>
              <a:buSzPts val="3200"/>
              <a:buNone/>
            </a:pPr>
            <a:r>
              <a:t/>
            </a:r>
            <a:endParaRPr>
              <a:latin typeface="Times New Roman"/>
              <a:ea typeface="Times New Roman"/>
              <a:cs typeface="Times New Roman"/>
              <a:sym typeface="Times New Roman"/>
            </a:endParaRPr>
          </a:p>
          <a:p>
            <a:pPr indent="-342900" lvl="0" marL="342900" rtl="0" algn="ctr">
              <a:lnSpc>
                <a:spcPct val="100000"/>
              </a:lnSpc>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342900" lvl="0" marL="342900" rtl="0" algn="ctr">
              <a:lnSpc>
                <a:spcPct val="100000"/>
              </a:lnSpc>
              <a:spcBef>
                <a:spcPts val="0"/>
              </a:spcBef>
              <a:spcAft>
                <a:spcPts val="0"/>
              </a:spcAft>
              <a:buClr>
                <a:srgbClr val="FF0000"/>
              </a:buClr>
              <a:buSzPts val="3600"/>
              <a:buNone/>
            </a:pPr>
            <a:r>
              <a:rPr b="1" lang="en-US" sz="3600">
                <a:solidFill>
                  <a:srgbClr val="FF0000"/>
                </a:solidFill>
                <a:latin typeface="Times New Roman"/>
                <a:ea typeface="Times New Roman"/>
                <a:cs typeface="Times New Roman"/>
                <a:sym typeface="Times New Roman"/>
              </a:rPr>
              <a:t>Thank You</a:t>
            </a:r>
            <a:endParaRPr b="1" sz="3600">
              <a:solidFill>
                <a:srgbClr val="FF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2018-02-11T06:29:38Z</dcterms:created>
  <dc:creator>APPLE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0e48cd18efab4c4b8fc3bcd8ddb23d56</vt:lpwstr>
  </property>
</Properties>
</file>